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9" r:id="rId3"/>
    <p:sldId id="260" r:id="rId4"/>
    <p:sldId id="262" r:id="rId5"/>
    <p:sldId id="263" r:id="rId6"/>
    <p:sldId id="265" r:id="rId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377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E19"/>
        </a:solidFill>
        <a:effectLst/>
      </p:bgPr>
    </p:bg>
    <p:spTree>
      <p:nvGrpSpPr>
        <p:cNvPr id="1" name=""/>
        <p:cNvGrpSpPr/>
        <p:nvPr/>
      </p:nvGrpSpPr>
      <p:grpSpPr>
        <a:xfrm>
          <a:off x="0" y="0"/>
          <a:ext cx="0" cy="0"/>
          <a:chOff x="0" y="0"/>
          <a:chExt cx="0" cy="0"/>
        </a:xfrm>
      </p:grpSpPr>
      <p:sp>
        <p:nvSpPr>
          <p:cNvPr id="2" name="Shape 0"/>
          <p:cNvSpPr/>
          <p:nvPr/>
        </p:nvSpPr>
        <p:spPr>
          <a:xfrm>
            <a:off x="12954305" y="-2857500"/>
            <a:ext cx="8191195" cy="8191195"/>
          </a:xfrm>
          <a:prstGeom prst="ellipse">
            <a:avLst/>
          </a:prstGeom>
          <a:noFill/>
          <a:ln w="25400">
            <a:solidFill>
              <a:srgbClr val="A78061">
                <a:alpha val="45000"/>
              </a:srgbClr>
            </a:solidFill>
            <a:prstDash val="solid"/>
          </a:ln>
        </p:spPr>
      </p:sp>
      <p:sp>
        <p:nvSpPr>
          <p:cNvPr id="3" name="Shape 1"/>
          <p:cNvSpPr/>
          <p:nvPr/>
        </p:nvSpPr>
        <p:spPr>
          <a:xfrm>
            <a:off x="14668805" y="-1333195"/>
            <a:ext cx="5333695" cy="5333695"/>
          </a:xfrm>
          <a:prstGeom prst="ellipse">
            <a:avLst/>
          </a:prstGeom>
          <a:solidFill>
            <a:srgbClr val="5D614F">
              <a:alpha val="50000"/>
            </a:srgbClr>
          </a:solidFill>
          <a:ln w="12700">
            <a:solidFill>
              <a:srgbClr val="FFFFFF">
                <a:alpha val="0"/>
              </a:srgbClr>
            </a:solidFill>
            <a:prstDash val="solid"/>
          </a:ln>
        </p:spPr>
      </p:sp>
      <p:pic>
        <p:nvPicPr>
          <p:cNvPr id="4" name="Image 0" descr="gen-dedup-fac65ab53a86f3c3edf8d914211c41e2.png"/>
          <p:cNvPicPr>
            <a:picLocks noChangeAspect="1"/>
          </p:cNvPicPr>
          <p:nvPr/>
        </p:nvPicPr>
        <p:blipFill>
          <a:blip r:embed="rId3"/>
          <a:srcRect t="-400" b="-400"/>
          <a:stretch/>
        </p:blipFill>
        <p:spPr>
          <a:xfrm>
            <a:off x="1143000" y="4248302"/>
            <a:ext cx="16002000" cy="19202"/>
          </a:xfrm>
          <a:prstGeom prst="rect">
            <a:avLst/>
          </a:prstGeom>
        </p:spPr>
      </p:pic>
      <p:sp>
        <p:nvSpPr>
          <p:cNvPr id="5" name="Text 2"/>
          <p:cNvSpPr txBox="1"/>
          <p:nvPr/>
        </p:nvSpPr>
        <p:spPr>
          <a:xfrm>
            <a:off x="1143000" y="857707"/>
            <a:ext cx="14287500" cy="1429207"/>
          </a:xfrm>
          <a:prstGeom prst="rect">
            <a:avLst/>
          </a:prstGeom>
          <a:noFill/>
          <a:ln/>
        </p:spPr>
        <p:txBody>
          <a:bodyPr wrap="none" lIns="0" tIns="0" rIns="0" bIns="0" rtlCol="0" anchor="ctr"/>
          <a:lstStyle/>
          <a:p>
            <a:pPr marL="0" indent="0" algn="l">
              <a:buNone/>
            </a:pPr>
            <a:r>
              <a:rPr lang="en-US" sz="11250" b="1" dirty="0">
                <a:solidFill>
                  <a:srgbClr val="FAF7F0"/>
                </a:solidFill>
                <a:latin typeface="Playfair Display" pitchFamily="34" charset="0"/>
                <a:ea typeface="Playfair Display" pitchFamily="34" charset="-122"/>
                <a:cs typeface="Playfair Display" pitchFamily="34" charset="-120"/>
              </a:rPr>
              <a:t>THE SYNC SHOW</a:t>
            </a:r>
            <a:endParaRPr lang="en-US" sz="11250" dirty="0"/>
          </a:p>
        </p:txBody>
      </p:sp>
      <p:sp>
        <p:nvSpPr>
          <p:cNvPr id="6" name="Text 3"/>
          <p:cNvSpPr txBox="1"/>
          <p:nvPr/>
        </p:nvSpPr>
        <p:spPr>
          <a:xfrm>
            <a:off x="1143000" y="2514600"/>
            <a:ext cx="14287500" cy="534010"/>
          </a:xfrm>
          <a:prstGeom prst="rect">
            <a:avLst/>
          </a:prstGeom>
          <a:noFill/>
          <a:ln/>
        </p:spPr>
        <p:txBody>
          <a:bodyPr wrap="none" lIns="0" tIns="0" rIns="0" bIns="0" rtlCol="0" anchor="ctr"/>
          <a:lstStyle/>
          <a:p>
            <a:pPr marL="0" indent="0" algn="l">
              <a:buNone/>
            </a:pPr>
            <a:r>
              <a:rPr lang="en-US" sz="3450" b="1" kern="0" spc="207" dirty="0">
                <a:solidFill>
                  <a:srgbClr val="A78061"/>
                </a:solidFill>
                <a:latin typeface="Be Vietnam Pro" pitchFamily="34" charset="0"/>
                <a:ea typeface="Be Vietnam Pro" pitchFamily="34" charset="-122"/>
                <a:cs typeface="Be Vietnam Pro" pitchFamily="34" charset="-120"/>
              </a:rPr>
              <a:t>— NORTON PARK | GAMUDA LAND</a:t>
            </a:r>
            <a:endParaRPr lang="en-US" sz="3450" dirty="0"/>
          </a:p>
        </p:txBody>
      </p:sp>
      <p:sp>
        <p:nvSpPr>
          <p:cNvPr id="7" name="Text 4"/>
          <p:cNvSpPr txBox="1"/>
          <p:nvPr/>
        </p:nvSpPr>
        <p:spPr>
          <a:xfrm>
            <a:off x="1143000" y="3390595"/>
            <a:ext cx="15240305" cy="476402"/>
          </a:xfrm>
          <a:prstGeom prst="rect">
            <a:avLst/>
          </a:prstGeom>
          <a:noFill/>
          <a:ln/>
        </p:spPr>
        <p:txBody>
          <a:bodyPr wrap="none" lIns="0" tIns="0" rIns="0" bIns="0" rtlCol="0" anchor="ctr"/>
          <a:lstStyle/>
          <a:p>
            <a:pPr marL="0" indent="0" algn="l">
              <a:buNone/>
            </a:pPr>
            <a:r>
              <a:rPr lang="en-US" sz="2850" b="1" kern="0" spc="57" dirty="0">
                <a:solidFill>
                  <a:srgbClr val="F3ECE0"/>
                </a:solidFill>
                <a:latin typeface="Be Vietnam Pro" pitchFamily="34" charset="0"/>
                <a:ea typeface="Be Vietnam Pro" pitchFamily="34" charset="-122"/>
                <a:cs typeface="Be Vietnam Pro" pitchFamily="34" charset="-120"/>
              </a:rPr>
              <a:t>SLIDE HANDOVER &amp; RUNBOOK KỸ THUẬT VẬN HÀNH TRƯỚC GIỜ G</a:t>
            </a:r>
            <a:endParaRPr lang="en-US" sz="2850" dirty="0"/>
          </a:p>
        </p:txBody>
      </p:sp>
      <p:sp>
        <p:nvSpPr>
          <p:cNvPr id="8" name="Text 5"/>
          <p:cNvSpPr txBox="1"/>
          <p:nvPr/>
        </p:nvSpPr>
        <p:spPr>
          <a:xfrm>
            <a:off x="1143000" y="4591202"/>
            <a:ext cx="7715707"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Chủ đầu tư</a:t>
            </a:r>
            <a:endParaRPr lang="en-US" sz="1650" dirty="0"/>
          </a:p>
        </p:txBody>
      </p:sp>
      <p:sp>
        <p:nvSpPr>
          <p:cNvPr id="9" name="Text 6"/>
          <p:cNvSpPr txBox="1"/>
          <p:nvPr/>
        </p:nvSpPr>
        <p:spPr>
          <a:xfrm>
            <a:off x="1143000" y="4920386"/>
            <a:ext cx="7715707" cy="391363"/>
          </a:xfrm>
          <a:prstGeom prst="rect">
            <a:avLst/>
          </a:prstGeom>
          <a:noFill/>
          <a:ln/>
        </p:spPr>
        <p:txBody>
          <a:bodyPr wrap="none" lIns="0" tIns="0" rIns="0" bIns="0" rtlCol="0" anchor="ctr"/>
          <a:lstStyle/>
          <a:p>
            <a:pPr marL="0" indent="0" algn="l">
              <a:buNone/>
            </a:pPr>
            <a:r>
              <a:rPr lang="en-US" sz="2250" dirty="0">
                <a:solidFill>
                  <a:srgbClr val="FAF7F0"/>
                </a:solidFill>
                <a:latin typeface="Be Vietnam Pro" pitchFamily="34" charset="0"/>
                <a:ea typeface="Be Vietnam Pro" pitchFamily="34" charset="-122"/>
                <a:cs typeface="Be Vietnam Pro" pitchFamily="34" charset="-120"/>
              </a:rPr>
              <a:t>Gamuda Land Việt Nam</a:t>
            </a:r>
            <a:endParaRPr lang="en-US" sz="2250" dirty="0"/>
          </a:p>
        </p:txBody>
      </p:sp>
      <p:sp>
        <p:nvSpPr>
          <p:cNvPr id="10" name="Text 7"/>
          <p:cNvSpPr txBox="1"/>
          <p:nvPr/>
        </p:nvSpPr>
        <p:spPr>
          <a:xfrm>
            <a:off x="9430207" y="4591202"/>
            <a:ext cx="7715707"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Đơn vị phát triển &amp; bảo chứng công nghệ</a:t>
            </a:r>
            <a:endParaRPr lang="en-US" sz="1650" dirty="0"/>
          </a:p>
        </p:txBody>
      </p:sp>
      <p:sp>
        <p:nvSpPr>
          <p:cNvPr id="11" name="Text 8"/>
          <p:cNvSpPr txBox="1"/>
          <p:nvPr/>
        </p:nvSpPr>
        <p:spPr>
          <a:xfrm>
            <a:off x="9430207" y="4920386"/>
            <a:ext cx="7715707" cy="391363"/>
          </a:xfrm>
          <a:prstGeom prst="rect">
            <a:avLst/>
          </a:prstGeom>
          <a:noFill/>
          <a:ln/>
        </p:spPr>
        <p:txBody>
          <a:bodyPr wrap="none" lIns="0" tIns="0" rIns="0" bIns="0" rtlCol="0" anchor="ctr"/>
          <a:lstStyle/>
          <a:p>
            <a:pPr marL="0" indent="0" algn="l">
              <a:buNone/>
            </a:pPr>
            <a:r>
              <a:rPr lang="en-US" sz="2250" dirty="0">
                <a:solidFill>
                  <a:srgbClr val="FAF7F0"/>
                </a:solidFill>
                <a:latin typeface="Be Vietnam Pro" pitchFamily="34" charset="0"/>
                <a:ea typeface="Be Vietnam Pro" pitchFamily="34" charset="-122"/>
                <a:cs typeface="Be Vietnam Pro" pitchFamily="34" charset="-120"/>
              </a:rPr>
              <a:t>1990 Agency</a:t>
            </a:r>
            <a:endParaRPr lang="en-US" sz="2250" dirty="0"/>
          </a:p>
        </p:txBody>
      </p:sp>
      <p:sp>
        <p:nvSpPr>
          <p:cNvPr id="12" name="Text 9"/>
          <p:cNvSpPr txBox="1"/>
          <p:nvPr/>
        </p:nvSpPr>
        <p:spPr>
          <a:xfrm>
            <a:off x="1143000" y="5554066"/>
            <a:ext cx="7715707"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Thời gian sự kiện</a:t>
            </a:r>
            <a:endParaRPr lang="en-US" sz="1650" dirty="0"/>
          </a:p>
        </p:txBody>
      </p:sp>
      <p:sp>
        <p:nvSpPr>
          <p:cNvPr id="13" name="Text 10"/>
          <p:cNvSpPr txBox="1"/>
          <p:nvPr/>
        </p:nvSpPr>
        <p:spPr>
          <a:xfrm>
            <a:off x="1143000" y="5883250"/>
            <a:ext cx="7715707" cy="391363"/>
          </a:xfrm>
          <a:prstGeom prst="rect">
            <a:avLst/>
          </a:prstGeom>
          <a:noFill/>
          <a:ln/>
        </p:spPr>
        <p:txBody>
          <a:bodyPr wrap="none" lIns="0" tIns="0" rIns="0" bIns="0" rtlCol="0" anchor="ctr"/>
          <a:lstStyle/>
          <a:p>
            <a:pPr marL="0" indent="0" algn="l">
              <a:buNone/>
            </a:pPr>
            <a:r>
              <a:rPr lang="en-US" sz="2250" dirty="0">
                <a:solidFill>
                  <a:srgbClr val="FAF7F0"/>
                </a:solidFill>
                <a:latin typeface="Be Vietnam Pro" pitchFamily="34" charset="0"/>
                <a:ea typeface="Be Vietnam Pro" pitchFamily="34" charset="-122"/>
                <a:cs typeface="Be Vietnam Pro" pitchFamily="34" charset="-120"/>
              </a:rPr>
              <a:t>08:30 – 11:30 | Thứ Năm | Ngày 08.10.2026</a:t>
            </a:r>
            <a:endParaRPr lang="en-US" sz="2250" dirty="0"/>
          </a:p>
        </p:txBody>
      </p:sp>
      <p:sp>
        <p:nvSpPr>
          <p:cNvPr id="14" name="Text 11"/>
          <p:cNvSpPr txBox="1"/>
          <p:nvPr/>
        </p:nvSpPr>
        <p:spPr>
          <a:xfrm>
            <a:off x="9430207" y="5554066"/>
            <a:ext cx="7715707"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Quy mô</a:t>
            </a:r>
            <a:endParaRPr lang="en-US" sz="1650" dirty="0"/>
          </a:p>
        </p:txBody>
      </p:sp>
      <p:sp>
        <p:nvSpPr>
          <p:cNvPr id="15" name="Text 12"/>
          <p:cNvSpPr txBox="1"/>
          <p:nvPr/>
        </p:nvSpPr>
        <p:spPr>
          <a:xfrm>
            <a:off x="9430207" y="5883250"/>
            <a:ext cx="8401507" cy="391363"/>
          </a:xfrm>
          <a:prstGeom prst="rect">
            <a:avLst/>
          </a:prstGeom>
          <a:noFill/>
          <a:ln/>
        </p:spPr>
        <p:txBody>
          <a:bodyPr wrap="none" lIns="0" tIns="0" rIns="0" bIns="0" rtlCol="0" anchor="ctr"/>
          <a:lstStyle/>
          <a:p>
            <a:pPr marL="0" indent="0" algn="l">
              <a:buNone/>
            </a:pPr>
            <a:r>
              <a:rPr lang="en-US" sz="2250" dirty="0">
                <a:solidFill>
                  <a:srgbClr val="FAF7F0"/>
                </a:solidFill>
                <a:latin typeface="Be Vietnam Pro" pitchFamily="34" charset="0"/>
                <a:ea typeface="Be Vietnam Pro" pitchFamily="34" charset="-122"/>
                <a:cs typeface="Be Vietnam Pro" pitchFamily="34" charset="-120"/>
              </a:rPr>
              <a:t>1.000 – 1.500 Chiến binh kinh doanh đại lý phân phối F1</a:t>
            </a:r>
            <a:endParaRPr lang="en-US" sz="2250" dirty="0"/>
          </a:p>
        </p:txBody>
      </p:sp>
      <p:sp>
        <p:nvSpPr>
          <p:cNvPr id="16" name="Text 13"/>
          <p:cNvSpPr txBox="1"/>
          <p:nvPr/>
        </p:nvSpPr>
        <p:spPr>
          <a:xfrm>
            <a:off x="1143000" y="6516929"/>
            <a:ext cx="16002000"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Địa điểm</a:t>
            </a:r>
            <a:endParaRPr lang="en-US" sz="1650" dirty="0"/>
          </a:p>
        </p:txBody>
      </p:sp>
      <p:sp>
        <p:nvSpPr>
          <p:cNvPr id="17" name="Text 14"/>
          <p:cNvSpPr txBox="1"/>
          <p:nvPr/>
        </p:nvSpPr>
        <p:spPr>
          <a:xfrm>
            <a:off x="1143000" y="6846113"/>
            <a:ext cx="16002000" cy="391363"/>
          </a:xfrm>
          <a:prstGeom prst="rect">
            <a:avLst/>
          </a:prstGeom>
          <a:noFill/>
          <a:ln/>
        </p:spPr>
        <p:txBody>
          <a:bodyPr wrap="none" lIns="0" tIns="0" rIns="0" bIns="0" rtlCol="0" anchor="ctr"/>
          <a:lstStyle/>
          <a:p>
            <a:pPr marL="0" indent="0" algn="l">
              <a:buNone/>
            </a:pPr>
            <a:r>
              <a:rPr lang="en-US" sz="2250" dirty="0">
                <a:solidFill>
                  <a:srgbClr val="FAF7F0"/>
                </a:solidFill>
                <a:latin typeface="Be Vietnam Pro" pitchFamily="34" charset="0"/>
                <a:ea typeface="Be Vietnam Pro" pitchFamily="34" charset="-122"/>
                <a:cs typeface="Be Vietnam Pro" pitchFamily="34" charset="-120"/>
              </a:rPr>
              <a:t>Rạp Xiếc &amp; Biểu Diễn Đa Năng Phú Thọ (03 Lữ Gia, P. Phú Thọ, Q.11, TP.HCM)</a:t>
            </a:r>
            <a:endParaRPr lang="en-US" sz="2250" dirty="0"/>
          </a:p>
        </p:txBody>
      </p:sp>
      <p:sp>
        <p:nvSpPr>
          <p:cNvPr id="18" name="Text 15"/>
          <p:cNvSpPr txBox="1"/>
          <p:nvPr/>
        </p:nvSpPr>
        <p:spPr>
          <a:xfrm>
            <a:off x="1143000" y="7962595"/>
            <a:ext cx="16002000" cy="277063"/>
          </a:xfrm>
          <a:prstGeom prst="rect">
            <a:avLst/>
          </a:prstGeom>
          <a:noFill/>
          <a:ln/>
        </p:spPr>
        <p:txBody>
          <a:bodyPr wrap="none" lIns="0" tIns="0" rIns="0" bIns="0" rtlCol="0" anchor="ctr"/>
          <a:lstStyle/>
          <a:p>
            <a:pPr marL="0" indent="0" algn="l">
              <a:buNone/>
            </a:pPr>
            <a:r>
              <a:rPr lang="en-US" sz="1650" b="1" kern="0" spc="231" dirty="0">
                <a:solidFill>
                  <a:srgbClr val="A78061"/>
                </a:solidFill>
                <a:latin typeface="Be Vietnam Pro" pitchFamily="34" charset="0"/>
                <a:ea typeface="Be Vietnam Pro" pitchFamily="34" charset="-122"/>
                <a:cs typeface="Be Vietnam Pro" pitchFamily="34" charset="-120"/>
              </a:rPr>
              <a:t>Hệ thống điều hành</a:t>
            </a:r>
            <a:endParaRPr lang="en-US" sz="1650" dirty="0"/>
          </a:p>
        </p:txBody>
      </p:sp>
      <p:sp>
        <p:nvSpPr>
          <p:cNvPr id="19" name="Text 16"/>
          <p:cNvSpPr txBox="1"/>
          <p:nvPr/>
        </p:nvSpPr>
        <p:spPr>
          <a:xfrm>
            <a:off x="1143000" y="8349386"/>
            <a:ext cx="3339389" cy="314554"/>
          </a:xfrm>
          <a:prstGeom prst="rect">
            <a:avLst/>
          </a:prstGeom>
          <a:noFill/>
          <a:ln/>
        </p:spPr>
        <p:txBody>
          <a:bodyPr wrap="none" lIns="0" tIns="0" rIns="0" bIns="0" rtlCol="0" anchor="ctr"/>
          <a:lstStyle/>
          <a:p>
            <a:pPr marL="0" indent="0" algn="l">
              <a:buNone/>
            </a:pPr>
            <a:r>
              <a:rPr lang="en-US" sz="1950" b="1" dirty="0">
                <a:solidFill>
                  <a:srgbClr val="FAF7F0"/>
                </a:solidFill>
                <a:latin typeface="Be Vietnam Pro" pitchFamily="34" charset="0"/>
                <a:ea typeface="Be Vietnam Pro" pitchFamily="34" charset="-122"/>
                <a:cs typeface="Be Vietnam Pro" pitchFamily="34" charset="-120"/>
              </a:rPr>
              <a:t>Landing Page Check-in</a:t>
            </a:r>
            <a:endParaRPr lang="en-US" sz="1950" dirty="0"/>
          </a:p>
        </p:txBody>
      </p:sp>
      <p:sp>
        <p:nvSpPr>
          <p:cNvPr id="20" name="Text 17"/>
          <p:cNvSpPr txBox="1"/>
          <p:nvPr/>
        </p:nvSpPr>
        <p:spPr>
          <a:xfrm>
            <a:off x="4286707" y="8387791"/>
            <a:ext cx="12859207" cy="277063"/>
          </a:xfrm>
          <a:prstGeom prst="rect">
            <a:avLst/>
          </a:prstGeom>
          <a:noFill/>
          <a:ln/>
        </p:spPr>
        <p:txBody>
          <a:bodyPr wrap="none" lIns="0" tIns="0" rIns="0" bIns="0" rtlCol="0" anchor="ctr"/>
          <a:lstStyle/>
          <a:p>
            <a:pPr marL="0" indent="0" algn="l">
              <a:buNone/>
            </a:pPr>
            <a:r>
              <a:rPr lang="en-US" sz="1650" dirty="0" err="1">
                <a:solidFill>
                  <a:srgbClr val="C9BBA6"/>
                </a:solidFill>
                <a:latin typeface="JetBrains Mono" pitchFamily="34" charset="0"/>
                <a:ea typeface="JetBrains Mono" pitchFamily="34" charset="-122"/>
                <a:cs typeface="JetBrains Mono" pitchFamily="34" charset="-120"/>
              </a:rPr>
              <a:t>thesync.nortonpark.com.vn</a:t>
            </a:r>
            <a:endParaRPr lang="en-US" sz="1650" dirty="0"/>
          </a:p>
        </p:txBody>
      </p:sp>
      <p:sp>
        <p:nvSpPr>
          <p:cNvPr id="21" name="Text 18"/>
          <p:cNvSpPr txBox="1"/>
          <p:nvPr/>
        </p:nvSpPr>
        <p:spPr>
          <a:xfrm>
            <a:off x="1143000" y="8739835"/>
            <a:ext cx="3143707" cy="314554"/>
          </a:xfrm>
          <a:prstGeom prst="rect">
            <a:avLst/>
          </a:prstGeom>
          <a:noFill/>
          <a:ln/>
        </p:spPr>
        <p:txBody>
          <a:bodyPr wrap="none" lIns="0" tIns="0" rIns="0" bIns="0" rtlCol="0" anchor="ctr"/>
          <a:lstStyle/>
          <a:p>
            <a:pPr marL="0" indent="0" algn="l">
              <a:buNone/>
            </a:pPr>
            <a:r>
              <a:rPr lang="en-US" sz="1950" b="1" dirty="0">
                <a:solidFill>
                  <a:srgbClr val="FAF7F0"/>
                </a:solidFill>
                <a:latin typeface="Be Vietnam Pro" pitchFamily="34" charset="0"/>
                <a:ea typeface="Be Vietnam Pro" pitchFamily="34" charset="-122"/>
                <a:cs typeface="Be Vietnam Pro" pitchFamily="34" charset="-120"/>
              </a:rPr>
              <a:t>Admin Cockpit</a:t>
            </a:r>
            <a:endParaRPr lang="en-US" sz="1950" dirty="0"/>
          </a:p>
        </p:txBody>
      </p:sp>
      <p:sp>
        <p:nvSpPr>
          <p:cNvPr id="22" name="Text 19"/>
          <p:cNvSpPr txBox="1"/>
          <p:nvPr/>
        </p:nvSpPr>
        <p:spPr>
          <a:xfrm>
            <a:off x="4286707" y="8778240"/>
            <a:ext cx="12859207" cy="277063"/>
          </a:xfrm>
          <a:prstGeom prst="rect">
            <a:avLst/>
          </a:prstGeom>
          <a:noFill/>
          <a:ln/>
        </p:spPr>
        <p:txBody>
          <a:bodyPr wrap="none" lIns="0" tIns="0" rIns="0" bIns="0" rtlCol="0" anchor="ctr"/>
          <a:lstStyle/>
          <a:p>
            <a:r>
              <a:rPr lang="en-US" sz="1650" dirty="0" err="1">
                <a:solidFill>
                  <a:srgbClr val="C9BBA6"/>
                </a:solidFill>
                <a:latin typeface="JetBrains Mono" pitchFamily="34" charset="0"/>
                <a:ea typeface="JetBrains Mono" pitchFamily="34" charset="-122"/>
                <a:cs typeface="JetBrains Mono" pitchFamily="34" charset="-120"/>
              </a:rPr>
              <a:t>thesync.nortonpark.com.vn</a:t>
            </a:r>
            <a:r>
              <a:rPr lang="en-US" sz="1650" dirty="0">
                <a:solidFill>
                  <a:srgbClr val="C9BBA6"/>
                </a:solidFill>
                <a:latin typeface="JetBrains Mono" pitchFamily="34" charset="0"/>
                <a:ea typeface="JetBrains Mono" pitchFamily="34" charset="-122"/>
                <a:cs typeface="JetBrains Mono" pitchFamily="34" charset="-120"/>
              </a:rPr>
              <a:t>/admin</a:t>
            </a:r>
            <a:endParaRPr lang="en-US" sz="1650" dirty="0"/>
          </a:p>
        </p:txBody>
      </p:sp>
      <p:sp>
        <p:nvSpPr>
          <p:cNvPr id="23" name="Text 20"/>
          <p:cNvSpPr txBox="1"/>
          <p:nvPr/>
        </p:nvSpPr>
        <p:spPr>
          <a:xfrm>
            <a:off x="1143000" y="9130284"/>
            <a:ext cx="3143707" cy="314554"/>
          </a:xfrm>
          <a:prstGeom prst="rect">
            <a:avLst/>
          </a:prstGeom>
          <a:noFill/>
          <a:ln/>
        </p:spPr>
        <p:txBody>
          <a:bodyPr wrap="none" lIns="0" tIns="0" rIns="0" bIns="0" rtlCol="0" anchor="ctr"/>
          <a:lstStyle/>
          <a:p>
            <a:pPr marL="0" indent="0" algn="l">
              <a:buNone/>
            </a:pPr>
            <a:r>
              <a:rPr lang="en-US" sz="1950" b="1" dirty="0">
                <a:solidFill>
                  <a:srgbClr val="FAF7F0"/>
                </a:solidFill>
                <a:latin typeface="Be Vietnam Pro" pitchFamily="34" charset="0"/>
                <a:ea typeface="Be Vietnam Pro" pitchFamily="34" charset="-122"/>
                <a:cs typeface="Be Vietnam Pro" pitchFamily="34" charset="-120"/>
              </a:rPr>
              <a:t>Google Sheet ERP</a:t>
            </a:r>
            <a:endParaRPr lang="en-US" sz="1950" dirty="0"/>
          </a:p>
        </p:txBody>
      </p:sp>
      <p:sp>
        <p:nvSpPr>
          <p:cNvPr id="24" name="Text 21"/>
          <p:cNvSpPr txBox="1"/>
          <p:nvPr/>
        </p:nvSpPr>
        <p:spPr>
          <a:xfrm>
            <a:off x="4286707" y="9168689"/>
            <a:ext cx="12859207" cy="277063"/>
          </a:xfrm>
          <a:prstGeom prst="rect">
            <a:avLst/>
          </a:prstGeom>
          <a:noFill/>
          <a:ln/>
        </p:spPr>
        <p:txBody>
          <a:bodyPr wrap="none" lIns="0" tIns="0" rIns="0" bIns="0" rtlCol="0" anchor="ctr"/>
          <a:lstStyle/>
          <a:p>
            <a:pPr marL="0" indent="0" algn="l">
              <a:buNone/>
            </a:pPr>
            <a:r>
              <a:rPr lang="en-US" sz="1650" dirty="0">
                <a:solidFill>
                  <a:srgbClr val="C9BBA6"/>
                </a:solidFill>
                <a:latin typeface="JetBrains Mono" pitchFamily="34" charset="0"/>
                <a:ea typeface="JetBrains Mono" pitchFamily="34" charset="-122"/>
                <a:cs typeface="JetBrains Mono" pitchFamily="34" charset="-120"/>
              </a:rPr>
              <a:t>docs.google.com/spreadsheets/d/1IpfahCoOnvE5dc9JES9upMiBvW6l__Cx8X4aD2i3A28/edit</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1143000" y="2152498"/>
            <a:ext cx="9715500" cy="7563002"/>
          </a:xfrm>
          <a:prstGeom prst="rect">
            <a:avLst/>
          </a:prstGeom>
          <a:solidFill>
            <a:srgbClr val="F3ECE0"/>
          </a:solidFill>
          <a:ln/>
        </p:spPr>
      </p:sp>
      <p:sp>
        <p:nvSpPr>
          <p:cNvPr id="3" name="Shape 1"/>
          <p:cNvSpPr/>
          <p:nvPr/>
        </p:nvSpPr>
        <p:spPr>
          <a:xfrm>
            <a:off x="1143000" y="2152498"/>
            <a:ext cx="9715500" cy="57607"/>
          </a:xfrm>
          <a:prstGeom prst="rect">
            <a:avLst/>
          </a:prstGeom>
          <a:solidFill>
            <a:srgbClr val="A78061"/>
          </a:solidFill>
          <a:ln w="12700">
            <a:solidFill>
              <a:srgbClr val="A78061">
                <a:alpha val="0"/>
              </a:srgbClr>
            </a:solidFill>
            <a:prstDash val="solid"/>
          </a:ln>
        </p:spPr>
      </p:sp>
      <p:sp>
        <p:nvSpPr>
          <p:cNvPr id="4" name="Shape 2"/>
          <p:cNvSpPr/>
          <p:nvPr/>
        </p:nvSpPr>
        <p:spPr>
          <a:xfrm>
            <a:off x="11239805" y="2152498"/>
            <a:ext cx="5905195" cy="7563002"/>
          </a:xfrm>
          <a:prstGeom prst="rect">
            <a:avLst/>
          </a:prstGeom>
          <a:solidFill>
            <a:srgbClr val="5D614F"/>
          </a:solidFill>
          <a:ln w="12700">
            <a:solidFill>
              <a:srgbClr val="FFFFFF">
                <a:alpha val="0"/>
              </a:srgbClr>
            </a:solidFill>
            <a:prstDash val="solid"/>
          </a:ln>
        </p:spPr>
      </p:sp>
      <p:sp>
        <p:nvSpPr>
          <p:cNvPr id="5" name="Text 3"/>
          <p:cNvSpPr txBox="1"/>
          <p:nvPr/>
        </p:nvSpPr>
        <p:spPr>
          <a:xfrm>
            <a:off x="1143000" y="533095"/>
            <a:ext cx="16002000" cy="581558"/>
          </a:xfrm>
          <a:prstGeom prst="rect">
            <a:avLst/>
          </a:prstGeom>
          <a:noFill/>
          <a:ln/>
        </p:spPr>
        <p:txBody>
          <a:bodyPr wrap="none" lIns="0" tIns="0" rIns="0" bIns="0" rtlCol="0" anchor="ctr"/>
          <a:lstStyle/>
          <a:p>
            <a:pPr marL="0" indent="0" algn="l">
              <a:buNone/>
            </a:pPr>
            <a:r>
              <a:rPr lang="en-US" sz="4050" b="1" dirty="0">
                <a:solidFill>
                  <a:srgbClr val="181E19"/>
                </a:solidFill>
                <a:latin typeface="Playfair Display" pitchFamily="34" charset="0"/>
                <a:ea typeface="Playfair Display" pitchFamily="34" charset="-122"/>
                <a:cs typeface="Playfair Display" pitchFamily="34" charset="-120"/>
              </a:rPr>
              <a:t>ĐIỀU KHOẢN (T&amp;C) &amp; DANH SÁCH SÀN F1</a:t>
            </a:r>
            <a:endParaRPr lang="en-US" sz="4050" dirty="0"/>
          </a:p>
        </p:txBody>
      </p:sp>
      <p:sp>
        <p:nvSpPr>
          <p:cNvPr id="6" name="Text 4"/>
          <p:cNvSpPr txBox="1"/>
          <p:nvPr/>
        </p:nvSpPr>
        <p:spPr>
          <a:xfrm>
            <a:off x="1143000" y="1223467"/>
            <a:ext cx="16002000" cy="362102"/>
          </a:xfrm>
          <a:prstGeom prst="rect">
            <a:avLst/>
          </a:prstGeom>
          <a:noFill/>
          <a:ln/>
        </p:spPr>
        <p:txBody>
          <a:bodyPr wrap="none" lIns="0" tIns="0" rIns="0" bIns="0" rtlCol="0" anchor="ctr"/>
          <a:lstStyle/>
          <a:p>
            <a:pPr marL="0" indent="0" algn="l">
              <a:buNone/>
            </a:pPr>
            <a:r>
              <a:rPr lang="en-US" sz="2100" i="1" dirty="0">
                <a:solidFill>
                  <a:srgbClr val="5D614F"/>
                </a:solidFill>
                <a:latin typeface="Be Vietnam Pro" pitchFamily="34" charset="0"/>
                <a:ea typeface="Be Vietnam Pro" pitchFamily="34" charset="-122"/>
                <a:cs typeface="Be Vietnam Pro" pitchFamily="34" charset="-120"/>
              </a:rPr>
              <a:t>Quy chế loại trừ rủi ro &amp; giải quyết tranh chấp pháp lý trước khi bốc thăm</a:t>
            </a:r>
            <a:endParaRPr lang="en-US" sz="2100" dirty="0"/>
          </a:p>
        </p:txBody>
      </p:sp>
      <p:sp>
        <p:nvSpPr>
          <p:cNvPr id="7" name="Text 5"/>
          <p:cNvSpPr txBox="1"/>
          <p:nvPr/>
        </p:nvSpPr>
        <p:spPr>
          <a:xfrm>
            <a:off x="1561795" y="2495398"/>
            <a:ext cx="8915400" cy="352958"/>
          </a:xfrm>
          <a:prstGeom prst="rect">
            <a:avLst/>
          </a:prstGeom>
          <a:noFill/>
          <a:ln/>
        </p:spPr>
        <p:txBody>
          <a:bodyPr wrap="none" lIns="0" tIns="0" rIns="0" bIns="0" rtlCol="0" anchor="ctr"/>
          <a:lstStyle/>
          <a:p>
            <a:pPr marL="0" indent="0" algn="l">
              <a:buNone/>
            </a:pPr>
            <a:r>
              <a:rPr lang="en-US" sz="2100" b="1" dirty="0">
                <a:solidFill>
                  <a:srgbClr val="5D614F"/>
                </a:solidFill>
                <a:latin typeface="Be Vietnam Pro" pitchFamily="34" charset="0"/>
                <a:ea typeface="Be Vietnam Pro" pitchFamily="34" charset="-122"/>
                <a:cs typeface="Be Vietnam Pro" pitchFamily="34" charset="-120"/>
              </a:rPr>
              <a:t>QUY CHẾ PHÁP LÝ BẢO VỆ CHỦ ĐẦU TƯ GAMUDA LAND &amp; BTC</a:t>
            </a:r>
            <a:endParaRPr lang="en-US" sz="2100" dirty="0"/>
          </a:p>
        </p:txBody>
      </p:sp>
      <p:sp>
        <p:nvSpPr>
          <p:cNvPr id="8" name="Text 6"/>
          <p:cNvSpPr txBox="1"/>
          <p:nvPr/>
        </p:nvSpPr>
        <p:spPr>
          <a:xfrm>
            <a:off x="1561795" y="3089758"/>
            <a:ext cx="571500" cy="1086307"/>
          </a:xfrm>
          <a:prstGeom prst="rect">
            <a:avLst/>
          </a:prstGeom>
          <a:noFill/>
          <a:ln/>
        </p:spPr>
        <p:txBody>
          <a:bodyPr wrap="square" lIns="0" tIns="0" rIns="0" bIns="0" rtlCol="0" anchor="ctr"/>
          <a:lstStyle/>
          <a:p>
            <a:pPr marL="0" indent="0" algn="l">
              <a:lnSpc>
                <a:spcPct val="100000"/>
              </a:lnSpc>
              <a:buNone/>
            </a:pPr>
            <a:r>
              <a:rPr lang="en-US" sz="3450" b="1" dirty="0">
                <a:solidFill>
                  <a:srgbClr val="A78061"/>
                </a:solidFill>
                <a:latin typeface="Playfair Display" pitchFamily="34" charset="0"/>
                <a:ea typeface="Playfair Display" pitchFamily="34" charset="-122"/>
                <a:cs typeface="Playfair Display" pitchFamily="34" charset="-120"/>
              </a:rPr>
              <a:t>1</a:t>
            </a:r>
            <a:endParaRPr lang="en-US" sz="3450" dirty="0"/>
          </a:p>
        </p:txBody>
      </p:sp>
      <p:sp>
        <p:nvSpPr>
          <p:cNvPr id="9" name="Text 7"/>
          <p:cNvSpPr txBox="1"/>
          <p:nvPr/>
        </p:nvSpPr>
        <p:spPr>
          <a:xfrm>
            <a:off x="2133295" y="3089758"/>
            <a:ext cx="8343900" cy="1086307"/>
          </a:xfrm>
          <a:prstGeom prst="rect">
            <a:avLst/>
          </a:prstGeom>
          <a:noFill/>
          <a:ln/>
        </p:spPr>
        <p:txBody>
          <a:bodyPr wrap="square" lIns="0" tIns="0" rIns="0" bIns="0" rtlCol="0" anchor="ctr"/>
          <a:lstStyle/>
          <a:p>
            <a:pPr marL="0" indent="0" algn="l">
              <a:lnSpc>
                <a:spcPts val="2828"/>
              </a:lnSpc>
              <a:buNone/>
            </a:pPr>
            <a:r>
              <a:rPr lang="en-US" sz="1950" b="1" dirty="0">
                <a:solidFill>
                  <a:srgbClr val="181E19"/>
                </a:solidFill>
                <a:latin typeface="Be Vietnam Pro" pitchFamily="34" charset="0"/>
                <a:ea typeface="Be Vietnam Pro" pitchFamily="34" charset="-122"/>
                <a:cs typeface="Be Vietnam Pro" pitchFamily="34" charset="-120"/>
              </a:rPr>
              <a:t>Quyền quyết định tối cao</a:t>
            </a:r>
            <a:r>
              <a:rPr lang="en-US" sz="1950" dirty="0">
                <a:solidFill>
                  <a:srgbClr val="181E19"/>
                </a:solidFill>
                <a:latin typeface="Be Vietnam Pro" pitchFamily="34" charset="0"/>
                <a:ea typeface="Be Vietnam Pro" pitchFamily="34" charset="-122"/>
                <a:cs typeface="Be Vietnam Pro" pitchFamily="34" charset="-120"/>
              </a:rPr>
              <a:t>: Quyết định của CĐT Gamuda Land Việt Nam là quyết định cuối cùng và có hiệu lực thi hành ngay trong mọi trường hợp khiếu nại phát sinh.</a:t>
            </a:r>
            <a:endParaRPr lang="en-US" sz="1950" dirty="0"/>
          </a:p>
        </p:txBody>
      </p:sp>
      <p:sp>
        <p:nvSpPr>
          <p:cNvPr id="10" name="Text 8"/>
          <p:cNvSpPr txBox="1"/>
          <p:nvPr/>
        </p:nvSpPr>
        <p:spPr>
          <a:xfrm>
            <a:off x="1561795" y="4414723"/>
            <a:ext cx="571500" cy="1086307"/>
          </a:xfrm>
          <a:prstGeom prst="rect">
            <a:avLst/>
          </a:prstGeom>
          <a:noFill/>
          <a:ln/>
        </p:spPr>
        <p:txBody>
          <a:bodyPr wrap="square" lIns="0" tIns="0" rIns="0" bIns="0" rtlCol="0" anchor="ctr"/>
          <a:lstStyle/>
          <a:p>
            <a:pPr marL="0" indent="0" algn="l">
              <a:lnSpc>
                <a:spcPct val="100000"/>
              </a:lnSpc>
              <a:buNone/>
            </a:pPr>
            <a:r>
              <a:rPr lang="en-US" sz="3450" b="1" dirty="0">
                <a:solidFill>
                  <a:srgbClr val="A78061"/>
                </a:solidFill>
                <a:latin typeface="Playfair Display" pitchFamily="34" charset="0"/>
                <a:ea typeface="Playfair Display" pitchFamily="34" charset="-122"/>
                <a:cs typeface="Playfair Display" pitchFamily="34" charset="-120"/>
              </a:rPr>
              <a:t>2</a:t>
            </a:r>
            <a:endParaRPr lang="en-US" sz="3450" dirty="0"/>
          </a:p>
        </p:txBody>
      </p:sp>
      <p:sp>
        <p:nvSpPr>
          <p:cNvPr id="11" name="Text 9"/>
          <p:cNvSpPr txBox="1"/>
          <p:nvPr/>
        </p:nvSpPr>
        <p:spPr>
          <a:xfrm>
            <a:off x="2133295" y="4414723"/>
            <a:ext cx="8343900" cy="1086307"/>
          </a:xfrm>
          <a:prstGeom prst="rect">
            <a:avLst/>
          </a:prstGeom>
          <a:noFill/>
          <a:ln/>
        </p:spPr>
        <p:txBody>
          <a:bodyPr wrap="square" lIns="0" tIns="0" rIns="0" bIns="0" rtlCol="0" anchor="ctr"/>
          <a:lstStyle/>
          <a:p>
            <a:pPr marL="0" indent="0" algn="l">
              <a:lnSpc>
                <a:spcPts val="2828"/>
              </a:lnSpc>
              <a:buNone/>
            </a:pPr>
            <a:r>
              <a:rPr lang="en-US" sz="1950" b="1" dirty="0">
                <a:solidFill>
                  <a:srgbClr val="181E19"/>
                </a:solidFill>
                <a:latin typeface="Be Vietnam Pro" pitchFamily="34" charset="0"/>
                <a:ea typeface="Be Vietnam Pro" pitchFamily="34" charset="-122"/>
                <a:cs typeface="Be Vietnam Pro" pitchFamily="34" charset="-120"/>
              </a:rPr>
              <a:t>Điều kiện hợp lệ của nhân sự nhận giải</a:t>
            </a:r>
            <a:r>
              <a:rPr lang="en-US" sz="1950" dirty="0">
                <a:solidFill>
                  <a:srgbClr val="181E19"/>
                </a:solidFill>
                <a:latin typeface="Be Vietnam Pro" pitchFamily="34" charset="0"/>
                <a:ea typeface="Be Vietnam Pro" pitchFamily="34" charset="-122"/>
                <a:cs typeface="Be Vietnam Pro" pitchFamily="34" charset="-120"/>
              </a:rPr>
              <a:t>: Người trúng giải </a:t>
            </a:r>
            <a:r>
              <a:rPr lang="en-US" sz="1950" b="1" dirty="0">
                <a:solidFill>
                  <a:srgbClr val="181E19"/>
                </a:solidFill>
                <a:latin typeface="Be Vietnam Pro" pitchFamily="34" charset="0"/>
                <a:ea typeface="Be Vietnam Pro" pitchFamily="34" charset="-122"/>
                <a:cs typeface="Be Vietnam Pro" pitchFamily="34" charset="-120"/>
              </a:rPr>
              <a:t>bắt buộc phải là nhân sự chính thức</a:t>
            </a:r>
            <a:r>
              <a:rPr lang="en-US" sz="1950" dirty="0">
                <a:solidFill>
                  <a:srgbClr val="181E19"/>
                </a:solidFill>
                <a:latin typeface="Be Vietnam Pro" pitchFamily="34" charset="0"/>
                <a:ea typeface="Be Vietnam Pro" pitchFamily="34" charset="-122"/>
                <a:cs typeface="Be Vietnam Pro" pitchFamily="34" charset="-120"/>
              </a:rPr>
              <a:t> trực thuộc các Đại lý phân phối F1 đã được Gamuda Land phê duyệt.</a:t>
            </a:r>
            <a:endParaRPr lang="en-US" sz="1950" dirty="0"/>
          </a:p>
        </p:txBody>
      </p:sp>
      <p:sp>
        <p:nvSpPr>
          <p:cNvPr id="12" name="Text 10"/>
          <p:cNvSpPr txBox="1"/>
          <p:nvPr/>
        </p:nvSpPr>
        <p:spPr>
          <a:xfrm>
            <a:off x="1561795" y="5739689"/>
            <a:ext cx="571500" cy="1438351"/>
          </a:xfrm>
          <a:prstGeom prst="rect">
            <a:avLst/>
          </a:prstGeom>
          <a:noFill/>
          <a:ln/>
        </p:spPr>
        <p:txBody>
          <a:bodyPr wrap="square" lIns="0" tIns="0" rIns="0" bIns="0" rtlCol="0" anchor="ctr"/>
          <a:lstStyle/>
          <a:p>
            <a:pPr marL="0" indent="0" algn="l">
              <a:lnSpc>
                <a:spcPct val="100000"/>
              </a:lnSpc>
              <a:buNone/>
            </a:pPr>
            <a:r>
              <a:rPr lang="en-US" sz="3450" b="1" dirty="0">
                <a:solidFill>
                  <a:srgbClr val="A78061"/>
                </a:solidFill>
                <a:latin typeface="Playfair Display" pitchFamily="34" charset="0"/>
                <a:ea typeface="Playfair Display" pitchFamily="34" charset="-122"/>
                <a:cs typeface="Playfair Display" pitchFamily="34" charset="-120"/>
              </a:rPr>
              <a:t>3</a:t>
            </a:r>
            <a:endParaRPr lang="en-US" sz="3450" dirty="0"/>
          </a:p>
        </p:txBody>
      </p:sp>
      <p:sp>
        <p:nvSpPr>
          <p:cNvPr id="13" name="Text 11"/>
          <p:cNvSpPr txBox="1"/>
          <p:nvPr/>
        </p:nvSpPr>
        <p:spPr>
          <a:xfrm>
            <a:off x="2133295" y="5739689"/>
            <a:ext cx="8343900" cy="1438351"/>
          </a:xfrm>
          <a:prstGeom prst="rect">
            <a:avLst/>
          </a:prstGeom>
          <a:noFill/>
          <a:ln/>
        </p:spPr>
        <p:txBody>
          <a:bodyPr wrap="square" lIns="0" tIns="0" rIns="0" bIns="0" rtlCol="0" anchor="ctr"/>
          <a:lstStyle/>
          <a:p>
            <a:pPr marL="0" indent="0" algn="l">
              <a:lnSpc>
                <a:spcPts val="2828"/>
              </a:lnSpc>
              <a:buNone/>
            </a:pPr>
            <a:r>
              <a:rPr lang="en-US" sz="1950" b="1" dirty="0">
                <a:solidFill>
                  <a:srgbClr val="181E19"/>
                </a:solidFill>
                <a:latin typeface="Be Vietnam Pro" pitchFamily="34" charset="0"/>
                <a:ea typeface="Be Vietnam Pro" pitchFamily="34" charset="-122"/>
                <a:cs typeface="Be Vietnam Pro" pitchFamily="34" charset="-120"/>
              </a:rPr>
              <a:t>Quy tắc 3 lần gọi (60 giây)</a:t>
            </a:r>
            <a:r>
              <a:rPr lang="en-US" sz="1950" dirty="0">
                <a:solidFill>
                  <a:srgbClr val="181E19"/>
                </a:solidFill>
                <a:latin typeface="Be Vietnam Pro" pitchFamily="34" charset="0"/>
                <a:ea typeface="Be Vietnam Pro" pitchFamily="34" charset="-122"/>
                <a:cs typeface="Be Vietnam Pro" pitchFamily="34" charset="-120"/>
              </a:rPr>
              <a:t>: Khi xướng tên trúng thưởng, nếu sau 3 lần gọi của MC (tối đa 60 giây) mà người trúng không bước lên sân khấu, kết quả bị </a:t>
            </a:r>
            <a:r>
              <a:rPr lang="en-US" sz="1950" b="1" dirty="0">
                <a:solidFill>
                  <a:srgbClr val="DF192A"/>
                </a:solidFill>
                <a:latin typeface="Be Vietnam Pro" pitchFamily="34" charset="0"/>
                <a:ea typeface="Be Vietnam Pro" pitchFamily="34" charset="-122"/>
                <a:cs typeface="Be Vietnam Pro" pitchFamily="34" charset="-120"/>
              </a:rPr>
              <a:t>HỦY BỎ NGAY LẬP TỨC</a:t>
            </a:r>
            <a:r>
              <a:rPr lang="en-US" sz="1950" dirty="0">
                <a:solidFill>
                  <a:srgbClr val="181E19"/>
                </a:solidFill>
                <a:latin typeface="Be Vietnam Pro" pitchFamily="34" charset="0"/>
                <a:ea typeface="Be Vietnam Pro" pitchFamily="34" charset="-122"/>
                <a:cs typeface="Be Vietnam Pro" pitchFamily="34" charset="-120"/>
              </a:rPr>
              <a:t> và tiến hành quay lại cho người khác.</a:t>
            </a:r>
            <a:endParaRPr lang="en-US" sz="1950" dirty="0"/>
          </a:p>
        </p:txBody>
      </p:sp>
      <p:sp>
        <p:nvSpPr>
          <p:cNvPr id="14" name="Text 12"/>
          <p:cNvSpPr txBox="1"/>
          <p:nvPr/>
        </p:nvSpPr>
        <p:spPr>
          <a:xfrm>
            <a:off x="1561795" y="7424014"/>
            <a:ext cx="571500" cy="724205"/>
          </a:xfrm>
          <a:prstGeom prst="rect">
            <a:avLst/>
          </a:prstGeom>
          <a:noFill/>
          <a:ln/>
        </p:spPr>
        <p:txBody>
          <a:bodyPr wrap="square" lIns="0" tIns="0" rIns="0" bIns="0" rtlCol="0" anchor="ctr"/>
          <a:lstStyle/>
          <a:p>
            <a:pPr marL="0" indent="0" algn="l">
              <a:lnSpc>
                <a:spcPct val="100000"/>
              </a:lnSpc>
              <a:buNone/>
            </a:pPr>
            <a:r>
              <a:rPr lang="en-US" sz="3450" b="1" dirty="0">
                <a:solidFill>
                  <a:srgbClr val="A78061"/>
                </a:solidFill>
                <a:latin typeface="Playfair Display" pitchFamily="34" charset="0"/>
                <a:ea typeface="Playfair Display" pitchFamily="34" charset="-122"/>
                <a:cs typeface="Playfair Display" pitchFamily="34" charset="-120"/>
              </a:rPr>
              <a:t>4</a:t>
            </a:r>
            <a:endParaRPr lang="en-US" sz="3450" dirty="0"/>
          </a:p>
        </p:txBody>
      </p:sp>
      <p:sp>
        <p:nvSpPr>
          <p:cNvPr id="15" name="Text 13"/>
          <p:cNvSpPr txBox="1"/>
          <p:nvPr/>
        </p:nvSpPr>
        <p:spPr>
          <a:xfrm>
            <a:off x="2133295" y="7424014"/>
            <a:ext cx="8343900" cy="724205"/>
          </a:xfrm>
          <a:prstGeom prst="rect">
            <a:avLst/>
          </a:prstGeom>
          <a:noFill/>
          <a:ln/>
        </p:spPr>
        <p:txBody>
          <a:bodyPr wrap="square" lIns="0" tIns="0" rIns="0" bIns="0" rtlCol="0" anchor="ctr"/>
          <a:lstStyle/>
          <a:p>
            <a:pPr marL="0" indent="0" algn="l">
              <a:lnSpc>
                <a:spcPts val="2828"/>
              </a:lnSpc>
              <a:buNone/>
            </a:pPr>
            <a:r>
              <a:rPr lang="en-US" sz="1950" b="1" dirty="0">
                <a:solidFill>
                  <a:srgbClr val="181E19"/>
                </a:solidFill>
                <a:latin typeface="Be Vietnam Pro" pitchFamily="34" charset="0"/>
                <a:ea typeface="Be Vietnam Pro" pitchFamily="34" charset="-122"/>
                <a:cs typeface="Be Vietnam Pro" pitchFamily="34" charset="-120"/>
              </a:rPr>
              <a:t>Tính chính chủ của mã vé</a:t>
            </a:r>
            <a:r>
              <a:rPr lang="en-US" sz="1950" dirty="0">
                <a:solidFill>
                  <a:srgbClr val="181E19"/>
                </a:solidFill>
                <a:latin typeface="Be Vietnam Pro" pitchFamily="34" charset="0"/>
                <a:ea typeface="Be Vietnam Pro" pitchFamily="34" charset="-122"/>
                <a:cs typeface="Be Vietnam Pro" pitchFamily="34" charset="-120"/>
              </a:rPr>
              <a:t>: Mã số may mắn không có giá trị chuyển nhượng, cho tặng, ủy quyền hoặc bán lại dưới bất kỳ hình thức nào.</a:t>
            </a:r>
            <a:endParaRPr lang="en-US" sz="1950" dirty="0"/>
          </a:p>
        </p:txBody>
      </p:sp>
      <p:sp>
        <p:nvSpPr>
          <p:cNvPr id="16" name="Text 14"/>
          <p:cNvSpPr txBox="1"/>
          <p:nvPr/>
        </p:nvSpPr>
        <p:spPr>
          <a:xfrm>
            <a:off x="11601907" y="2457907"/>
            <a:ext cx="5220310" cy="362102"/>
          </a:xfrm>
          <a:prstGeom prst="rect">
            <a:avLst/>
          </a:prstGeom>
          <a:noFill/>
          <a:ln/>
        </p:spPr>
        <p:txBody>
          <a:bodyPr wrap="none" lIns="0" tIns="0" rIns="0" bIns="0" rtlCol="0" anchor="ctr"/>
          <a:lstStyle/>
          <a:p>
            <a:pPr marL="0" indent="0" algn="l">
              <a:buNone/>
            </a:pPr>
            <a:r>
              <a:rPr lang="en-US" sz="2250" b="1" dirty="0">
                <a:solidFill>
                  <a:srgbClr val="FAF7F0"/>
                </a:solidFill>
                <a:latin typeface="Be Vietnam Pro" pitchFamily="34" charset="0"/>
                <a:ea typeface="Be Vietnam Pro" pitchFamily="34" charset="-122"/>
                <a:cs typeface="Be Vietnam Pro" pitchFamily="34" charset="-120"/>
              </a:rPr>
              <a:t>Danh Sách Đại Lý Phân Phối F1</a:t>
            </a:r>
            <a:endParaRPr lang="en-US" sz="2250" dirty="0"/>
          </a:p>
        </p:txBody>
      </p:sp>
      <p:sp>
        <p:nvSpPr>
          <p:cNvPr id="17" name="Text 15"/>
          <p:cNvSpPr txBox="1"/>
          <p:nvPr/>
        </p:nvSpPr>
        <p:spPr>
          <a:xfrm>
            <a:off x="11601907" y="2872130"/>
            <a:ext cx="5220310" cy="619963"/>
          </a:xfrm>
          <a:prstGeom prst="rect">
            <a:avLst/>
          </a:prstGeom>
          <a:noFill/>
          <a:ln/>
        </p:spPr>
        <p:txBody>
          <a:bodyPr wrap="square" lIns="0" tIns="0" rIns="0" bIns="0" rtlCol="0" anchor="ctr"/>
          <a:lstStyle/>
          <a:p>
            <a:pPr marL="0" indent="0" algn="l">
              <a:lnSpc>
                <a:spcPct val="135000"/>
              </a:lnSpc>
              <a:buNone/>
            </a:pPr>
            <a:r>
              <a:rPr lang="en-US" sz="1800" b="1" dirty="0">
                <a:solidFill>
                  <a:srgbClr val="E2C7A9"/>
                </a:solidFill>
                <a:latin typeface="Be Vietnam Pro" pitchFamily="34" charset="0"/>
                <a:ea typeface="Be Vietnam Pro" pitchFamily="34" charset="-122"/>
                <a:cs typeface="Be Vietnam Pro" pitchFamily="34" charset="-120"/>
              </a:rPr>
              <a:t>(TBC — Đang Cập Nhật &amp; Chờ Phê Duyệt Cuối Cùng Từ CĐT)</a:t>
            </a:r>
            <a:endParaRPr lang="en-US" sz="1800" dirty="0"/>
          </a:p>
        </p:txBody>
      </p:sp>
      <p:sp>
        <p:nvSpPr>
          <p:cNvPr id="18" name="Text 16"/>
          <p:cNvSpPr txBox="1"/>
          <p:nvPr/>
        </p:nvSpPr>
        <p:spPr>
          <a:xfrm>
            <a:off x="11601907" y="3621938"/>
            <a:ext cx="5220310" cy="1286561"/>
          </a:xfrm>
          <a:prstGeom prst="rect">
            <a:avLst/>
          </a:prstGeom>
          <a:noFill/>
          <a:ln/>
        </p:spPr>
        <p:txBody>
          <a:bodyPr wrap="square" lIns="0" tIns="0" rIns="0" bIns="0" rtlCol="0" anchor="ctr"/>
          <a:lstStyle/>
          <a:p>
            <a:pPr marL="0" indent="0" algn="l">
              <a:lnSpc>
                <a:spcPts val="2520"/>
              </a:lnSpc>
              <a:buNone/>
            </a:pPr>
            <a:r>
              <a:rPr lang="en-US" sz="1800" i="1" dirty="0">
                <a:solidFill>
                  <a:srgbClr val="E9E1D2"/>
                </a:solidFill>
                <a:latin typeface="Be Vietnam Pro" pitchFamily="34" charset="0"/>
                <a:ea typeface="Be Vietnam Pro" pitchFamily="34" charset="-122"/>
                <a:cs typeface="Be Vietnam Pro" pitchFamily="34" charset="-120"/>
              </a:rPr>
              <a:t>Danh sách dưới đây là các đối tác phân phối dự kiến. Danh mục chính thức sẽ được khóa cứng theo văn bản phê duyệt cuối cùng từ Ban Lãnh Đạo Gamuda Land:</a:t>
            </a:r>
            <a:endParaRPr lang="en-US" sz="1800" dirty="0"/>
          </a:p>
        </p:txBody>
      </p:sp>
      <p:sp>
        <p:nvSpPr>
          <p:cNvPr id="19" name="Text 17"/>
          <p:cNvSpPr txBox="1"/>
          <p:nvPr/>
        </p:nvSpPr>
        <p:spPr>
          <a:xfrm>
            <a:off x="11601907" y="5074006"/>
            <a:ext cx="5220310" cy="514807"/>
          </a:xfrm>
          <a:prstGeom prst="rect">
            <a:avLst/>
          </a:prstGeom>
          <a:noFill/>
          <a:ln/>
        </p:spPr>
        <p:txBody>
          <a:bodyPr wrap="square" lIns="0" tIns="0" rIns="0" bIns="0" rtlCol="0" anchor="ctr"/>
          <a:lstStyle/>
          <a:p>
            <a:pPr marL="0" indent="0" algn="l">
              <a:lnSpc>
                <a:spcPct val="135000"/>
              </a:lnSpc>
              <a:buNone/>
            </a:pPr>
            <a:r>
              <a:rPr lang="en-US" sz="1500" b="1" kern="0" spc="60" dirty="0">
                <a:solidFill>
                  <a:srgbClr val="E2C7A9"/>
                </a:solidFill>
                <a:latin typeface="JetBrains Mono" pitchFamily="34" charset="0"/>
                <a:ea typeface="JetBrains Mono" pitchFamily="34" charset="-122"/>
                <a:cs typeface="JetBrains Mono" pitchFamily="34" charset="-120"/>
              </a:rPr>
              <a:t>[TBC] DANH SÁCH SÀN DỰ KIẾN (CHỜ CHỐT TỪ CĐT):</a:t>
            </a:r>
            <a:endParaRPr lang="en-US" sz="1500" dirty="0"/>
          </a:p>
        </p:txBody>
      </p:sp>
      <p:sp>
        <p:nvSpPr>
          <p:cNvPr id="20" name="Text 18"/>
          <p:cNvSpPr txBox="1"/>
          <p:nvPr/>
        </p:nvSpPr>
        <p:spPr>
          <a:xfrm>
            <a:off x="11601907" y="5721401"/>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[1]</a:t>
            </a:r>
            <a:r>
              <a:rPr lang="en-US" sz="1800" dirty="0">
                <a:solidFill>
                  <a:srgbClr val="FAF7F0"/>
                </a:solidFill>
                <a:latin typeface="Be Vietnam Pro" pitchFamily="34" charset="0"/>
                <a:ea typeface="Be Vietnam Pro" pitchFamily="34" charset="-122"/>
                <a:cs typeface="Be Vietnam Pro" pitchFamily="34" charset="-120"/>
              </a:rPr>
              <a:t>Đông Tây Land</a:t>
            </a:r>
            <a:endParaRPr lang="en-US" sz="1800" dirty="0"/>
          </a:p>
        </p:txBody>
      </p:sp>
      <p:sp>
        <p:nvSpPr>
          <p:cNvPr id="21" name="Text 19"/>
          <p:cNvSpPr txBox="1"/>
          <p:nvPr/>
        </p:nvSpPr>
        <p:spPr>
          <a:xfrm>
            <a:off x="14287500" y="5721401"/>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[2]</a:t>
            </a:r>
            <a:r>
              <a:rPr lang="en-US" sz="1800" dirty="0">
                <a:solidFill>
                  <a:srgbClr val="FAF7F0"/>
                </a:solidFill>
                <a:latin typeface="Be Vietnam Pro" pitchFamily="34" charset="0"/>
                <a:ea typeface="Be Vietnam Pro" pitchFamily="34" charset="-122"/>
                <a:cs typeface="Be Vietnam Pro" pitchFamily="34" charset="-120"/>
              </a:rPr>
              <a:t>Southern Homes</a:t>
            </a:r>
            <a:endParaRPr lang="en-US" sz="1800" dirty="0"/>
          </a:p>
        </p:txBody>
      </p:sp>
      <p:sp>
        <p:nvSpPr>
          <p:cNvPr id="22" name="Text 20"/>
          <p:cNvSpPr txBox="1"/>
          <p:nvPr/>
        </p:nvSpPr>
        <p:spPr>
          <a:xfrm>
            <a:off x="11601907" y="6113678"/>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[3]</a:t>
            </a:r>
            <a:r>
              <a:rPr lang="en-US" sz="1800" dirty="0">
                <a:solidFill>
                  <a:srgbClr val="FAF7F0"/>
                </a:solidFill>
                <a:latin typeface="Be Vietnam Pro" pitchFamily="34" charset="0"/>
                <a:ea typeface="Be Vietnam Pro" pitchFamily="34" charset="-122"/>
                <a:cs typeface="Be Vietnam Pro" pitchFamily="34" charset="-120"/>
              </a:rPr>
              <a:t>ERA Vietnam</a:t>
            </a:r>
            <a:endParaRPr lang="en-US" sz="1800" dirty="0"/>
          </a:p>
        </p:txBody>
      </p:sp>
      <p:sp>
        <p:nvSpPr>
          <p:cNvPr id="23" name="Text 21"/>
          <p:cNvSpPr txBox="1"/>
          <p:nvPr/>
        </p:nvSpPr>
        <p:spPr>
          <a:xfrm>
            <a:off x="14287500" y="6113678"/>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[4]</a:t>
            </a:r>
            <a:r>
              <a:rPr lang="en-US" sz="1800" dirty="0">
                <a:solidFill>
                  <a:srgbClr val="FAF7F0"/>
                </a:solidFill>
                <a:latin typeface="Be Vietnam Pro" pitchFamily="34" charset="0"/>
                <a:ea typeface="Be Vietnam Pro" pitchFamily="34" charset="-122"/>
                <a:cs typeface="Be Vietnam Pro" pitchFamily="34" charset="-120"/>
              </a:rPr>
              <a:t>CBRE Vietnam</a:t>
            </a:r>
            <a:endParaRPr lang="en-US" sz="1800" dirty="0"/>
          </a:p>
        </p:txBody>
      </p:sp>
      <p:sp>
        <p:nvSpPr>
          <p:cNvPr id="24" name="Text 22"/>
          <p:cNvSpPr txBox="1"/>
          <p:nvPr/>
        </p:nvSpPr>
        <p:spPr>
          <a:xfrm>
            <a:off x="11601907" y="6505956"/>
            <a:ext cx="2707538"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[5]</a:t>
            </a:r>
            <a:r>
              <a:rPr lang="en-US" sz="1800" dirty="0">
                <a:solidFill>
                  <a:srgbClr val="FAF7F0"/>
                </a:solidFill>
                <a:latin typeface="Be Vietnam Pro" pitchFamily="34" charset="0"/>
                <a:ea typeface="Be Vietnam Pro" pitchFamily="34" charset="-122"/>
                <a:cs typeface="Be Vietnam Pro" pitchFamily="34" charset="-120"/>
              </a:rPr>
              <a:t>Savills Vietnam</a:t>
            </a:r>
            <a:endParaRPr lang="en-US" sz="1800" dirty="0"/>
          </a:p>
        </p:txBody>
      </p:sp>
      <p:sp>
        <p:nvSpPr>
          <p:cNvPr id="25" name="Text 23"/>
          <p:cNvSpPr txBox="1"/>
          <p:nvPr/>
        </p:nvSpPr>
        <p:spPr>
          <a:xfrm>
            <a:off x="14287500" y="6505956"/>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[6]</a:t>
            </a:r>
            <a:r>
              <a:rPr lang="en-US" sz="1800" dirty="0">
                <a:solidFill>
                  <a:srgbClr val="FAF7F0"/>
                </a:solidFill>
                <a:latin typeface="Be Vietnam Pro" pitchFamily="34" charset="0"/>
                <a:ea typeface="Be Vietnam Pro" pitchFamily="34" charset="-122"/>
                <a:cs typeface="Be Vietnam Pro" pitchFamily="34" charset="-120"/>
              </a:rPr>
              <a:t>IQI Vietnam</a:t>
            </a:r>
            <a:endParaRPr lang="en-US" sz="1800" dirty="0"/>
          </a:p>
        </p:txBody>
      </p:sp>
      <p:sp>
        <p:nvSpPr>
          <p:cNvPr id="26" name="Text 24"/>
          <p:cNvSpPr txBox="1"/>
          <p:nvPr/>
        </p:nvSpPr>
        <p:spPr>
          <a:xfrm>
            <a:off x="11601907" y="6898234"/>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[7]</a:t>
            </a:r>
            <a:r>
              <a:rPr lang="en-US" sz="1800" dirty="0">
                <a:solidFill>
                  <a:srgbClr val="FAF7F0"/>
                </a:solidFill>
                <a:latin typeface="Be Vietnam Pro" pitchFamily="34" charset="0"/>
                <a:ea typeface="Be Vietnam Pro" pitchFamily="34" charset="-122"/>
                <a:cs typeface="Be Vietnam Pro" pitchFamily="34" charset="-120"/>
              </a:rPr>
              <a:t>Rever</a:t>
            </a:r>
            <a:endParaRPr lang="en-US" sz="1800" dirty="0"/>
          </a:p>
        </p:txBody>
      </p:sp>
      <p:sp>
        <p:nvSpPr>
          <p:cNvPr id="27" name="Text 25"/>
          <p:cNvSpPr txBox="1"/>
          <p:nvPr/>
        </p:nvSpPr>
        <p:spPr>
          <a:xfrm>
            <a:off x="14287500" y="6898234"/>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[8]</a:t>
            </a:r>
            <a:r>
              <a:rPr lang="en-US" sz="1800" dirty="0">
                <a:solidFill>
                  <a:srgbClr val="FAF7F0"/>
                </a:solidFill>
                <a:latin typeface="Be Vietnam Pro" pitchFamily="34" charset="0"/>
                <a:ea typeface="Be Vietnam Pro" pitchFamily="34" charset="-122"/>
                <a:cs typeface="Be Vietnam Pro" pitchFamily="34" charset="-120"/>
              </a:rPr>
              <a:t>DKRA Vietnam</a:t>
            </a:r>
            <a:endParaRPr lang="en-US" sz="1800" dirty="0"/>
          </a:p>
        </p:txBody>
      </p:sp>
      <p:sp>
        <p:nvSpPr>
          <p:cNvPr id="28" name="Text 26"/>
          <p:cNvSpPr txBox="1"/>
          <p:nvPr/>
        </p:nvSpPr>
        <p:spPr>
          <a:xfrm>
            <a:off x="11601907" y="7291426"/>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[9]</a:t>
            </a:r>
            <a:r>
              <a:rPr lang="en-US" sz="1800" dirty="0">
                <a:solidFill>
                  <a:srgbClr val="FAF7F0"/>
                </a:solidFill>
                <a:latin typeface="Be Vietnam Pro" pitchFamily="34" charset="0"/>
                <a:ea typeface="Be Vietnam Pro" pitchFamily="34" charset="-122"/>
                <a:cs typeface="Be Vietnam Pro" pitchFamily="34" charset="-120"/>
              </a:rPr>
              <a:t>Smartland</a:t>
            </a:r>
            <a:endParaRPr lang="en-US" sz="1800" dirty="0"/>
          </a:p>
        </p:txBody>
      </p:sp>
      <p:sp>
        <p:nvSpPr>
          <p:cNvPr id="29" name="Text 27"/>
          <p:cNvSpPr txBox="1"/>
          <p:nvPr/>
        </p:nvSpPr>
        <p:spPr>
          <a:xfrm>
            <a:off x="14287500" y="7291426"/>
            <a:ext cx="2707538"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[10]</a:t>
            </a:r>
            <a:r>
              <a:rPr lang="en-US" sz="1800" dirty="0">
                <a:solidFill>
                  <a:srgbClr val="FAF7F0"/>
                </a:solidFill>
                <a:latin typeface="Be Vietnam Pro" pitchFamily="34" charset="0"/>
                <a:ea typeface="Be Vietnam Pro" pitchFamily="34" charset="-122"/>
                <a:cs typeface="Be Vietnam Pro" pitchFamily="34" charset="-120"/>
              </a:rPr>
              <a:t>Khải Hoàn Land</a:t>
            </a:r>
            <a:endParaRPr lang="en-US" sz="1800" dirty="0"/>
          </a:p>
        </p:txBody>
      </p:sp>
      <p:sp>
        <p:nvSpPr>
          <p:cNvPr id="30" name="Text 28"/>
          <p:cNvSpPr txBox="1"/>
          <p:nvPr/>
        </p:nvSpPr>
        <p:spPr>
          <a:xfrm>
            <a:off x="11601907" y="7683703"/>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[11]</a:t>
            </a:r>
            <a:r>
              <a:rPr lang="en-US" sz="1800" dirty="0">
                <a:solidFill>
                  <a:srgbClr val="FAF7F0"/>
                </a:solidFill>
                <a:latin typeface="Be Vietnam Pro" pitchFamily="34" charset="0"/>
                <a:ea typeface="Be Vietnam Pro" pitchFamily="34" charset="-122"/>
                <a:cs typeface="Be Vietnam Pro" pitchFamily="34" charset="-120"/>
              </a:rPr>
              <a:t>CenLand</a:t>
            </a:r>
            <a:endParaRPr lang="en-US" sz="1800" dirty="0"/>
          </a:p>
        </p:txBody>
      </p:sp>
      <p:sp>
        <p:nvSpPr>
          <p:cNvPr id="31" name="Text 29"/>
          <p:cNvSpPr txBox="1"/>
          <p:nvPr/>
        </p:nvSpPr>
        <p:spPr>
          <a:xfrm>
            <a:off x="14287500" y="7683703"/>
            <a:ext cx="2533802"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[12]</a:t>
            </a:r>
            <a:r>
              <a:rPr lang="en-US" sz="1800" dirty="0">
                <a:solidFill>
                  <a:srgbClr val="FAF7F0"/>
                </a:solidFill>
                <a:latin typeface="Be Vietnam Pro" pitchFamily="34" charset="0"/>
                <a:ea typeface="Be Vietnam Pro" pitchFamily="34" charset="-122"/>
                <a:cs typeface="Be Vietnam Pro" pitchFamily="34" charset="-120"/>
              </a:rPr>
              <a:t>Mai Viet Land</a:t>
            </a:r>
            <a:endParaRPr lang="en-US" sz="1800" dirty="0"/>
          </a:p>
        </p:txBody>
      </p:sp>
      <p:sp>
        <p:nvSpPr>
          <p:cNvPr id="32" name="Text 30"/>
          <p:cNvSpPr txBox="1"/>
          <p:nvPr/>
        </p:nvSpPr>
        <p:spPr>
          <a:xfrm>
            <a:off x="11601907" y="8075981"/>
            <a:ext cx="2533802" cy="600761"/>
          </a:xfrm>
          <a:prstGeom prst="rect">
            <a:avLst/>
          </a:prstGeom>
          <a:noFill/>
          <a:ln/>
        </p:spPr>
        <p:txBody>
          <a:bodyPr wrap="square" lIns="0" tIns="0" rIns="0" bIns="0" rtlCol="0" anchor="ctr"/>
          <a:lstStyle/>
          <a:p>
            <a:pPr marL="0" indent="0" algn="l">
              <a:lnSpc>
                <a:spcPct val="130000"/>
              </a:lnSpc>
              <a:buNone/>
            </a:pPr>
            <a:r>
              <a:rPr lang="en-US" sz="1500" b="1" dirty="0">
                <a:solidFill>
                  <a:srgbClr val="E2C7A9"/>
                </a:solidFill>
                <a:latin typeface="JetBrains Mono" pitchFamily="34" charset="0"/>
                <a:ea typeface="JetBrains Mono" pitchFamily="34" charset="-122"/>
                <a:cs typeface="JetBrains Mono" pitchFamily="34" charset="-120"/>
              </a:rPr>
              <a:t>[13]</a:t>
            </a:r>
            <a:r>
              <a:rPr lang="en-US" sz="1800" dirty="0">
                <a:solidFill>
                  <a:srgbClr val="FAF7F0"/>
                </a:solidFill>
                <a:latin typeface="Be Vietnam Pro" pitchFamily="34" charset="0"/>
                <a:ea typeface="Be Vietnam Pro" pitchFamily="34" charset="-122"/>
                <a:cs typeface="Be Vietnam Pro" pitchFamily="34" charset="-120"/>
              </a:rPr>
              <a:t>The One Land</a:t>
            </a:r>
            <a:endParaRPr lang="en-US" sz="1800" dirty="0"/>
          </a:p>
        </p:txBody>
      </p:sp>
      <p:sp>
        <p:nvSpPr>
          <p:cNvPr id="33" name="Text 31"/>
          <p:cNvSpPr txBox="1"/>
          <p:nvPr/>
        </p:nvSpPr>
        <p:spPr>
          <a:xfrm>
            <a:off x="14287500" y="8075981"/>
            <a:ext cx="2533802" cy="600761"/>
          </a:xfrm>
          <a:prstGeom prst="rect">
            <a:avLst/>
          </a:prstGeom>
          <a:noFill/>
          <a:ln/>
        </p:spPr>
        <p:txBody>
          <a:bodyPr wrap="square" lIns="0" tIns="0" rIns="0" bIns="0" rtlCol="0" anchor="ctr"/>
          <a:lstStyle/>
          <a:p>
            <a:pPr marL="0" indent="0" algn="l">
              <a:lnSpc>
                <a:spcPct val="130000"/>
              </a:lnSpc>
              <a:buNone/>
            </a:pPr>
            <a:r>
              <a:rPr lang="en-US" sz="1500" b="1" dirty="0">
                <a:solidFill>
                  <a:srgbClr val="E2C7A9"/>
                </a:solidFill>
                <a:latin typeface="JetBrains Mono" pitchFamily="34" charset="0"/>
                <a:ea typeface="JetBrains Mono" pitchFamily="34" charset="-122"/>
                <a:cs typeface="JetBrains Mono" pitchFamily="34" charset="-120"/>
              </a:rPr>
              <a:t>[14]</a:t>
            </a:r>
            <a:r>
              <a:rPr lang="en-US" sz="1800" dirty="0">
                <a:solidFill>
                  <a:srgbClr val="FAF7F0"/>
                </a:solidFill>
                <a:latin typeface="Be Vietnam Pro" pitchFamily="34" charset="0"/>
                <a:ea typeface="Be Vietnam Pro" pitchFamily="34" charset="-122"/>
                <a:cs typeface="Be Vietnam Pro" pitchFamily="34" charset="-120"/>
              </a:rPr>
              <a:t>Huttons Vietnam</a:t>
            </a:r>
            <a:endParaRPr lang="en-US" sz="1800" dirty="0"/>
          </a:p>
        </p:txBody>
      </p:sp>
      <p:sp>
        <p:nvSpPr>
          <p:cNvPr id="34" name="Text 32"/>
          <p:cNvSpPr txBox="1"/>
          <p:nvPr/>
        </p:nvSpPr>
        <p:spPr>
          <a:xfrm>
            <a:off x="11601907" y="8765438"/>
            <a:ext cx="5220310" cy="305410"/>
          </a:xfrm>
          <a:prstGeom prst="rect">
            <a:avLst/>
          </a:prstGeom>
          <a:noFill/>
          <a:ln/>
        </p:spPr>
        <p:txBody>
          <a:bodyPr wrap="none" lIns="0" tIns="0" rIns="0" bIns="0" rtlCol="0" anchor="ctr"/>
          <a:lstStyle/>
          <a:p>
            <a:pPr marL="0" indent="0" algn="l">
              <a:buNone/>
            </a:pPr>
            <a:r>
              <a:rPr lang="en-US" sz="1500" b="1" dirty="0">
                <a:solidFill>
                  <a:srgbClr val="E2C7A9"/>
                </a:solidFill>
                <a:latin typeface="JetBrains Mono" pitchFamily="34" charset="0"/>
                <a:ea typeface="JetBrains Mono" pitchFamily="34" charset="-122"/>
                <a:cs typeface="JetBrains Mono" pitchFamily="34" charset="-120"/>
              </a:rPr>
              <a:t>[15]</a:t>
            </a:r>
            <a:r>
              <a:rPr lang="en-US" sz="1800" dirty="0">
                <a:solidFill>
                  <a:srgbClr val="FAF7F0"/>
                </a:solidFill>
                <a:latin typeface="Be Vietnam Pro" pitchFamily="34" charset="0"/>
                <a:ea typeface="Be Vietnam Pro" pitchFamily="34" charset="-122"/>
                <a:cs typeface="Be Vietnam Pro" pitchFamily="34" charset="-120"/>
              </a:rPr>
              <a:t>Khác (Cần đối soát thẻ nhân viên)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AF7F0"/>
        </a:solidFill>
        <a:effectLst/>
      </p:bgPr>
    </p:bg>
    <p:spTree>
      <p:nvGrpSpPr>
        <p:cNvPr id="1" name=""/>
        <p:cNvGrpSpPr/>
        <p:nvPr/>
      </p:nvGrpSpPr>
      <p:grpSpPr>
        <a:xfrm>
          <a:off x="0" y="0"/>
          <a:ext cx="0" cy="0"/>
          <a:chOff x="0" y="0"/>
          <a:chExt cx="0" cy="0"/>
        </a:xfrm>
      </p:grpSpPr>
      <p:pic>
        <p:nvPicPr>
          <p:cNvPr id="2" name="Image 0" descr="gen-dedup-f69fb0e048a6672e83b2abe5599fbd33.png"/>
          <p:cNvPicPr>
            <a:picLocks noChangeAspect="1"/>
          </p:cNvPicPr>
          <p:nvPr/>
        </p:nvPicPr>
        <p:blipFill>
          <a:blip r:embed="rId3"/>
          <a:srcRect l="-392" r="-392"/>
          <a:stretch/>
        </p:blipFill>
        <p:spPr>
          <a:xfrm>
            <a:off x="1143000" y="2286000"/>
            <a:ext cx="57607" cy="1867205"/>
          </a:xfrm>
          <a:prstGeom prst="rect">
            <a:avLst/>
          </a:prstGeom>
        </p:spPr>
      </p:pic>
      <p:sp>
        <p:nvSpPr>
          <p:cNvPr id="3" name="Text 0"/>
          <p:cNvSpPr txBox="1"/>
          <p:nvPr/>
        </p:nvSpPr>
        <p:spPr>
          <a:xfrm>
            <a:off x="1143000" y="533095"/>
            <a:ext cx="16002000" cy="581558"/>
          </a:xfrm>
          <a:prstGeom prst="rect">
            <a:avLst/>
          </a:prstGeom>
          <a:noFill/>
          <a:ln/>
        </p:spPr>
        <p:txBody>
          <a:bodyPr wrap="none" lIns="0" tIns="0" rIns="0" bIns="0" rtlCol="0" anchor="ctr"/>
          <a:lstStyle/>
          <a:p>
            <a:pPr marL="0" indent="0" algn="l">
              <a:buNone/>
            </a:pPr>
            <a:r>
              <a:rPr lang="en-US" sz="4050" b="1" dirty="0">
                <a:solidFill>
                  <a:srgbClr val="181E19"/>
                </a:solidFill>
                <a:latin typeface="Playfair Display" pitchFamily="34" charset="0"/>
                <a:ea typeface="Playfair Display" pitchFamily="34" charset="-122"/>
                <a:cs typeface="Playfair Display" pitchFamily="34" charset="-120"/>
              </a:rPr>
              <a:t>QUY TRÌNH ĐÓNG / MỞ CỔNG TIẾP NHẬN (HOT BUTTON)</a:t>
            </a:r>
            <a:endParaRPr lang="en-US" sz="4050" dirty="0"/>
          </a:p>
        </p:txBody>
      </p:sp>
      <p:sp>
        <p:nvSpPr>
          <p:cNvPr id="4" name="Text 1"/>
          <p:cNvSpPr txBox="1"/>
          <p:nvPr/>
        </p:nvSpPr>
        <p:spPr>
          <a:xfrm>
            <a:off x="1143000" y="1223467"/>
            <a:ext cx="16002000" cy="362102"/>
          </a:xfrm>
          <a:prstGeom prst="rect">
            <a:avLst/>
          </a:prstGeom>
          <a:noFill/>
          <a:ln/>
        </p:spPr>
        <p:txBody>
          <a:bodyPr wrap="none" lIns="0" tIns="0" rIns="0" bIns="0" rtlCol="0" anchor="ctr"/>
          <a:lstStyle/>
          <a:p>
            <a:pPr marL="0" indent="0" algn="l">
              <a:buNone/>
            </a:pPr>
            <a:r>
              <a:rPr lang="en-US" sz="2100" i="1" dirty="0">
                <a:solidFill>
                  <a:srgbClr val="5D614F"/>
                </a:solidFill>
                <a:latin typeface="Be Vietnam Pro" pitchFamily="34" charset="0"/>
                <a:ea typeface="Be Vietnam Pro" pitchFamily="34" charset="-122"/>
                <a:cs typeface="Be Vietnam Pro" pitchFamily="34" charset="-120"/>
              </a:rPr>
              <a:t>Chiến lược kiểm soát lưu lượng &amp; khóa sổ sạch 100% dữ liệu trước khi quay số</a:t>
            </a:r>
            <a:endParaRPr lang="en-US" sz="2100" dirty="0"/>
          </a:p>
        </p:txBody>
      </p:sp>
      <p:sp>
        <p:nvSpPr>
          <p:cNvPr id="5" name="Text 2"/>
          <p:cNvSpPr txBox="1"/>
          <p:nvPr/>
        </p:nvSpPr>
        <p:spPr>
          <a:xfrm>
            <a:off x="1485900" y="2796235"/>
            <a:ext cx="15621610" cy="1191463"/>
          </a:xfrm>
          <a:prstGeom prst="rect">
            <a:avLst/>
          </a:prstGeom>
          <a:noFill/>
          <a:ln/>
        </p:spPr>
        <p:txBody>
          <a:bodyPr wrap="square" lIns="0" tIns="0" rIns="0" bIns="0" rtlCol="0" anchor="ctr"/>
          <a:lstStyle/>
          <a:p>
            <a:pPr marL="0" indent="0" algn="l">
              <a:lnSpc>
                <a:spcPct val="120000"/>
              </a:lnSpc>
              <a:buNone/>
            </a:pPr>
            <a:r>
              <a:rPr lang="en-US" sz="3900" b="1" i="1" dirty="0">
                <a:solidFill>
                  <a:srgbClr val="181E19"/>
                </a:solidFill>
                <a:latin typeface="Playfair Display" pitchFamily="34" charset="0"/>
                <a:ea typeface="Playfair Display" pitchFamily="34" charset="-122"/>
                <a:cs typeface="Playfair Display" pitchFamily="34" charset="-120"/>
              </a:rPr>
              <a:t>“Chỉ Mở Khi Đón Khách — Khóa Khi Bắt Đầu — Sổ Sạch Tuyệt Đối Khi Bốc Thăm”</a:t>
            </a:r>
            <a:endParaRPr lang="en-US" sz="3900" dirty="0"/>
          </a:p>
        </p:txBody>
      </p:sp>
      <p:sp>
        <p:nvSpPr>
          <p:cNvPr id="6" name="Shape 3"/>
          <p:cNvSpPr/>
          <p:nvPr/>
        </p:nvSpPr>
        <p:spPr>
          <a:xfrm>
            <a:off x="1485900" y="2286000"/>
            <a:ext cx="2809951" cy="323698"/>
          </a:xfrm>
          <a:prstGeom prst="roundRect">
            <a:avLst>
              <a:gd name="adj" fmla="val 8757"/>
            </a:avLst>
          </a:prstGeom>
          <a:solidFill>
            <a:srgbClr val="DF192A"/>
          </a:solidFill>
          <a:ln w="12700">
            <a:solidFill>
              <a:srgbClr val="FFFFFF">
                <a:alpha val="0"/>
              </a:srgbClr>
            </a:solidFill>
            <a:prstDash val="solid"/>
          </a:ln>
        </p:spPr>
      </p:sp>
      <p:sp>
        <p:nvSpPr>
          <p:cNvPr id="7" name="Text 4"/>
          <p:cNvSpPr txBox="1"/>
          <p:nvPr/>
        </p:nvSpPr>
        <p:spPr>
          <a:xfrm>
            <a:off x="1485900" y="2286000"/>
            <a:ext cx="2809951" cy="324612"/>
          </a:xfrm>
          <a:prstGeom prst="rect">
            <a:avLst/>
          </a:prstGeom>
          <a:solidFill>
            <a:srgbClr val="FFFFFF">
              <a:alpha val="0"/>
            </a:srgbClr>
          </a:solidFill>
          <a:ln>
            <a:solidFill>
              <a:srgbClr val="FFFFFF">
                <a:alpha val="0"/>
              </a:srgbClr>
            </a:solidFill>
          </a:ln>
        </p:spPr>
        <p:txBody>
          <a:bodyPr wrap="none" lIns="139700" tIns="63500" rIns="139700" bIns="63500" rtlCol="0" anchor="ctr"/>
          <a:lstStyle/>
          <a:p>
            <a:pPr marL="0" indent="0" algn="l">
              <a:lnSpc>
                <a:spcPct val="120000"/>
              </a:lnSpc>
              <a:buNone/>
            </a:pPr>
            <a:r>
              <a:rPr lang="en-US" sz="1350" b="1" kern="0" spc="243" dirty="0">
                <a:solidFill>
                  <a:srgbClr val="FAF7F0"/>
                </a:solidFill>
                <a:latin typeface="JetBrains Mono" pitchFamily="34" charset="0"/>
                <a:ea typeface="JetBrains Mono" pitchFamily="34" charset="-122"/>
                <a:cs typeface="JetBrains Mono" pitchFamily="34" charset="-120"/>
              </a:rPr>
              <a:t>NGUYÊN TẮC VẬN HÀNH</a:t>
            </a:r>
            <a:endParaRPr lang="en-US" sz="1350" dirty="0"/>
          </a:p>
        </p:txBody>
      </p:sp>
      <p:sp>
        <p:nvSpPr>
          <p:cNvPr id="8" name="Shape 5"/>
          <p:cNvSpPr/>
          <p:nvPr/>
        </p:nvSpPr>
        <p:spPr>
          <a:xfrm>
            <a:off x="1143000" y="4858207"/>
            <a:ext cx="3619195" cy="4476902"/>
          </a:xfrm>
          <a:prstGeom prst="rect">
            <a:avLst/>
          </a:prstGeom>
          <a:solidFill>
            <a:srgbClr val="FFFDF8"/>
          </a:solidFill>
          <a:ln w="12700">
            <a:solidFill>
              <a:srgbClr val="E2D6C3"/>
            </a:solidFill>
            <a:prstDash val="solid"/>
          </a:ln>
        </p:spPr>
      </p:sp>
      <p:sp>
        <p:nvSpPr>
          <p:cNvPr id="9" name="Shape 6"/>
          <p:cNvSpPr/>
          <p:nvPr/>
        </p:nvSpPr>
        <p:spPr>
          <a:xfrm>
            <a:off x="1152144" y="4867351"/>
            <a:ext cx="3600907" cy="1809598"/>
          </a:xfrm>
          <a:prstGeom prst="rect">
            <a:avLst/>
          </a:prstGeom>
          <a:solidFill>
            <a:srgbClr val="5D614F"/>
          </a:solidFill>
          <a:ln w="12700">
            <a:solidFill>
              <a:srgbClr val="FFFFFF">
                <a:alpha val="0"/>
              </a:srgbClr>
            </a:solidFill>
            <a:prstDash val="solid"/>
          </a:ln>
        </p:spPr>
      </p:sp>
      <p:sp>
        <p:nvSpPr>
          <p:cNvPr id="10" name="Text 7"/>
          <p:cNvSpPr txBox="1"/>
          <p:nvPr/>
        </p:nvSpPr>
        <p:spPr>
          <a:xfrm>
            <a:off x="1419149" y="5115154"/>
            <a:ext cx="3067812" cy="277063"/>
          </a:xfrm>
          <a:prstGeom prst="rect">
            <a:avLst/>
          </a:prstGeom>
          <a:noFill/>
          <a:ln/>
        </p:spPr>
        <p:txBody>
          <a:bodyPr wrap="none" lIns="0" tIns="0" rIns="0" bIns="0" rtlCol="0" anchor="ctr"/>
          <a:lstStyle/>
          <a:p>
            <a:pPr marL="0" indent="0" algn="l">
              <a:buNone/>
            </a:pPr>
            <a:r>
              <a:rPr lang="en-US" sz="1650" b="1" kern="0" spc="99" dirty="0">
                <a:solidFill>
                  <a:srgbClr val="FAF7F0">
                    <a:alpha val="90000"/>
                  </a:srgbClr>
                </a:solidFill>
                <a:latin typeface="JetBrains Mono" pitchFamily="34" charset="0"/>
                <a:ea typeface="JetBrains Mono" pitchFamily="34" charset="-122"/>
                <a:cs typeface="JetBrains Mono" pitchFamily="34" charset="-120"/>
              </a:rPr>
              <a:t>T-30 phút</a:t>
            </a:r>
            <a:endParaRPr lang="en-US" sz="1650" dirty="0"/>
          </a:p>
        </p:txBody>
      </p:sp>
      <p:sp>
        <p:nvSpPr>
          <p:cNvPr id="11" name="Text 8"/>
          <p:cNvSpPr txBox="1"/>
          <p:nvPr/>
        </p:nvSpPr>
        <p:spPr>
          <a:xfrm>
            <a:off x="1419149" y="5558638"/>
            <a:ext cx="3067812" cy="790956"/>
          </a:xfrm>
          <a:prstGeom prst="rect">
            <a:avLst/>
          </a:prstGeom>
          <a:noFill/>
          <a:ln/>
        </p:spPr>
        <p:txBody>
          <a:bodyPr wrap="square" lIns="0" tIns="0" rIns="0" bIns="0" rtlCol="0" anchor="ctr"/>
          <a:lstStyle/>
          <a:p>
            <a:pPr marL="0" indent="0" algn="l">
              <a:lnSpc>
                <a:spcPct val="115000"/>
              </a:lnSpc>
              <a:buNone/>
            </a:pPr>
            <a:r>
              <a:rPr lang="en-US" sz="2700" b="1" dirty="0">
                <a:solidFill>
                  <a:srgbClr val="FAF7F0"/>
                </a:solidFill>
                <a:latin typeface="Be Vietnam Pro" pitchFamily="34" charset="0"/>
                <a:ea typeface="Be Vietnam Pro" pitchFamily="34" charset="-122"/>
                <a:cs typeface="Be Vietnam Pro" pitchFamily="34" charset="-120"/>
              </a:rPr>
              <a:t>RESET SỐ ĐẾM (0)</a:t>
            </a:r>
            <a:endParaRPr lang="en-US" sz="2700" dirty="0"/>
          </a:p>
        </p:txBody>
      </p:sp>
      <p:sp>
        <p:nvSpPr>
          <p:cNvPr id="12" name="Shape 9"/>
          <p:cNvSpPr/>
          <p:nvPr/>
        </p:nvSpPr>
        <p:spPr>
          <a:xfrm>
            <a:off x="1419149" y="7477963"/>
            <a:ext cx="3066898" cy="9144"/>
          </a:xfrm>
          <a:prstGeom prst="rect">
            <a:avLst/>
          </a:prstGeom>
          <a:solidFill>
            <a:srgbClr val="EDE4D6"/>
          </a:solidFill>
          <a:ln w="12700">
            <a:solidFill>
              <a:srgbClr val="EDE4D6">
                <a:alpha val="0"/>
              </a:srgbClr>
            </a:solidFill>
            <a:prstDash val="solid"/>
          </a:ln>
        </p:spPr>
      </p:sp>
      <p:sp>
        <p:nvSpPr>
          <p:cNvPr id="13" name="Text 10"/>
          <p:cNvSpPr txBox="1"/>
          <p:nvPr/>
        </p:nvSpPr>
        <p:spPr>
          <a:xfrm>
            <a:off x="1419149" y="6924751"/>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Làm sạch kho vé</a:t>
            </a:r>
            <a:endParaRPr lang="en-US" sz="2025" dirty="0"/>
          </a:p>
        </p:txBody>
      </p:sp>
      <p:pic>
        <p:nvPicPr>
          <p:cNvPr id="14" name="Image 1" descr="gen-dedup-e057e92386f70695c3811d5a53ff3f9b.png"/>
          <p:cNvPicPr>
            <a:picLocks noChangeAspect="1"/>
          </p:cNvPicPr>
          <p:nvPr/>
        </p:nvPicPr>
        <p:blipFill>
          <a:blip r:embed="rId4"/>
          <a:srcRect/>
          <a:stretch/>
        </p:blipFill>
        <p:spPr>
          <a:xfrm>
            <a:off x="4905756" y="6858000"/>
            <a:ext cx="476402" cy="476402"/>
          </a:xfrm>
          <a:prstGeom prst="rect">
            <a:avLst/>
          </a:prstGeom>
        </p:spPr>
      </p:pic>
      <p:sp>
        <p:nvSpPr>
          <p:cNvPr id="15" name="Shape 11"/>
          <p:cNvSpPr/>
          <p:nvPr/>
        </p:nvSpPr>
        <p:spPr>
          <a:xfrm>
            <a:off x="5266944" y="4858207"/>
            <a:ext cx="3619195" cy="4476902"/>
          </a:xfrm>
          <a:prstGeom prst="rect">
            <a:avLst/>
          </a:prstGeom>
          <a:solidFill>
            <a:srgbClr val="FFFDF8"/>
          </a:solidFill>
          <a:ln w="12700">
            <a:solidFill>
              <a:srgbClr val="E2D6C3"/>
            </a:solidFill>
            <a:prstDash val="solid"/>
          </a:ln>
        </p:spPr>
      </p:sp>
      <p:sp>
        <p:nvSpPr>
          <p:cNvPr id="16" name="Shape 12"/>
          <p:cNvSpPr/>
          <p:nvPr/>
        </p:nvSpPr>
        <p:spPr>
          <a:xfrm>
            <a:off x="5277002" y="4867351"/>
            <a:ext cx="3600907" cy="1809598"/>
          </a:xfrm>
          <a:prstGeom prst="rect">
            <a:avLst/>
          </a:prstGeom>
          <a:solidFill>
            <a:srgbClr val="4E8B5F"/>
          </a:solidFill>
          <a:ln w="12700">
            <a:solidFill>
              <a:srgbClr val="FFFFFF">
                <a:alpha val="0"/>
              </a:srgbClr>
            </a:solidFill>
            <a:prstDash val="solid"/>
          </a:ln>
        </p:spPr>
      </p:sp>
      <p:sp>
        <p:nvSpPr>
          <p:cNvPr id="17" name="Text 13"/>
          <p:cNvSpPr txBox="1"/>
          <p:nvPr/>
        </p:nvSpPr>
        <p:spPr>
          <a:xfrm>
            <a:off x="5544007" y="5115154"/>
            <a:ext cx="3067812" cy="277063"/>
          </a:xfrm>
          <a:prstGeom prst="rect">
            <a:avLst/>
          </a:prstGeom>
          <a:noFill/>
          <a:ln/>
        </p:spPr>
        <p:txBody>
          <a:bodyPr wrap="none" lIns="0" tIns="0" rIns="0" bIns="0" rtlCol="0" anchor="ctr"/>
          <a:lstStyle/>
          <a:p>
            <a:pPr marL="0" indent="0" algn="l">
              <a:buNone/>
            </a:pPr>
            <a:r>
              <a:rPr lang="en-US" sz="1650" b="1" kern="0" spc="99" dirty="0">
                <a:solidFill>
                  <a:srgbClr val="FAF7F0">
                    <a:alpha val="90000"/>
                  </a:srgbClr>
                </a:solidFill>
                <a:latin typeface="JetBrains Mono" pitchFamily="34" charset="0"/>
                <a:ea typeface="JetBrains Mono" pitchFamily="34" charset="-122"/>
                <a:cs typeface="JetBrains Mono" pitchFamily="34" charset="-120"/>
              </a:rPr>
              <a:t>T-15 phút</a:t>
            </a:r>
            <a:endParaRPr lang="en-US" sz="1650" dirty="0"/>
          </a:p>
        </p:txBody>
      </p:sp>
      <p:sp>
        <p:nvSpPr>
          <p:cNvPr id="18" name="Text 14"/>
          <p:cNvSpPr txBox="1"/>
          <p:nvPr/>
        </p:nvSpPr>
        <p:spPr>
          <a:xfrm>
            <a:off x="5544007" y="5558638"/>
            <a:ext cx="3067812" cy="400507"/>
          </a:xfrm>
          <a:prstGeom prst="rect">
            <a:avLst/>
          </a:prstGeom>
          <a:noFill/>
          <a:ln/>
        </p:spPr>
        <p:txBody>
          <a:bodyPr wrap="none" lIns="0" tIns="0" rIns="0" bIns="0" rtlCol="0" anchor="ctr"/>
          <a:lstStyle/>
          <a:p>
            <a:pPr marL="0" indent="0" algn="l">
              <a:buNone/>
            </a:pPr>
            <a:r>
              <a:rPr lang="en-US" sz="2700" b="1" dirty="0">
                <a:solidFill>
                  <a:srgbClr val="FAF7F0"/>
                </a:solidFill>
                <a:latin typeface="Be Vietnam Pro" pitchFamily="34" charset="0"/>
                <a:ea typeface="Be Vietnam Pro" pitchFamily="34" charset="-122"/>
                <a:cs typeface="Be Vietnam Pro" pitchFamily="34" charset="-120"/>
              </a:rPr>
              <a:t>BẤM MỞ CỔNG</a:t>
            </a:r>
            <a:endParaRPr lang="en-US" sz="2700" dirty="0"/>
          </a:p>
        </p:txBody>
      </p:sp>
      <p:sp>
        <p:nvSpPr>
          <p:cNvPr id="19" name="Shape 15"/>
          <p:cNvSpPr/>
          <p:nvPr/>
        </p:nvSpPr>
        <p:spPr>
          <a:xfrm>
            <a:off x="5544007" y="7477963"/>
            <a:ext cx="3066898" cy="9144"/>
          </a:xfrm>
          <a:prstGeom prst="rect">
            <a:avLst/>
          </a:prstGeom>
          <a:solidFill>
            <a:srgbClr val="EDE4D6"/>
          </a:solidFill>
          <a:ln w="12700">
            <a:solidFill>
              <a:srgbClr val="EDE4D6">
                <a:alpha val="0"/>
              </a:srgbClr>
            </a:solidFill>
            <a:prstDash val="solid"/>
          </a:ln>
        </p:spPr>
      </p:sp>
      <p:sp>
        <p:nvSpPr>
          <p:cNvPr id="20" name="Text 16"/>
          <p:cNvSpPr txBox="1"/>
          <p:nvPr/>
        </p:nvSpPr>
        <p:spPr>
          <a:xfrm>
            <a:off x="5544007" y="6924751"/>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Nút chuyển XANH</a:t>
            </a:r>
            <a:endParaRPr lang="en-US" sz="2025" dirty="0"/>
          </a:p>
        </p:txBody>
      </p:sp>
      <p:sp>
        <p:nvSpPr>
          <p:cNvPr id="21" name="Shape 17"/>
          <p:cNvSpPr/>
          <p:nvPr/>
        </p:nvSpPr>
        <p:spPr>
          <a:xfrm>
            <a:off x="5544007" y="8037576"/>
            <a:ext cx="3066898" cy="9144"/>
          </a:xfrm>
          <a:prstGeom prst="rect">
            <a:avLst/>
          </a:prstGeom>
          <a:solidFill>
            <a:srgbClr val="EDE4D6"/>
          </a:solidFill>
          <a:ln w="12700">
            <a:solidFill>
              <a:srgbClr val="EDE4D6">
                <a:alpha val="0"/>
              </a:srgbClr>
            </a:solidFill>
            <a:prstDash val="solid"/>
          </a:ln>
        </p:spPr>
      </p:sp>
      <p:sp>
        <p:nvSpPr>
          <p:cNvPr id="22" name="Text 18"/>
          <p:cNvSpPr txBox="1"/>
          <p:nvPr/>
        </p:nvSpPr>
        <p:spPr>
          <a:xfrm>
            <a:off x="5544007" y="7484364"/>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1.000+ Sales check-in</a:t>
            </a:r>
            <a:endParaRPr lang="en-US" sz="2025" dirty="0"/>
          </a:p>
        </p:txBody>
      </p:sp>
      <p:pic>
        <p:nvPicPr>
          <p:cNvPr id="23" name="Image 2" descr="gen-dedup-e057e92386f70695c3811d5a53ff3f9b.png"/>
          <p:cNvPicPr>
            <a:picLocks noChangeAspect="1"/>
          </p:cNvPicPr>
          <p:nvPr/>
        </p:nvPicPr>
        <p:blipFill>
          <a:blip r:embed="rId4"/>
          <a:srcRect/>
          <a:stretch/>
        </p:blipFill>
        <p:spPr>
          <a:xfrm>
            <a:off x="9029700" y="6858000"/>
            <a:ext cx="476402" cy="476402"/>
          </a:xfrm>
          <a:prstGeom prst="rect">
            <a:avLst/>
          </a:prstGeom>
        </p:spPr>
      </p:pic>
      <p:sp>
        <p:nvSpPr>
          <p:cNvPr id="24" name="Shape 19"/>
          <p:cNvSpPr/>
          <p:nvPr/>
        </p:nvSpPr>
        <p:spPr>
          <a:xfrm>
            <a:off x="9391802" y="4858207"/>
            <a:ext cx="3619195" cy="4476902"/>
          </a:xfrm>
          <a:prstGeom prst="rect">
            <a:avLst/>
          </a:prstGeom>
          <a:solidFill>
            <a:srgbClr val="FFFDF8"/>
          </a:solidFill>
          <a:ln w="12700">
            <a:solidFill>
              <a:srgbClr val="E2D6C3"/>
            </a:solidFill>
            <a:prstDash val="solid"/>
          </a:ln>
        </p:spPr>
      </p:sp>
      <p:sp>
        <p:nvSpPr>
          <p:cNvPr id="25" name="Shape 20"/>
          <p:cNvSpPr/>
          <p:nvPr/>
        </p:nvSpPr>
        <p:spPr>
          <a:xfrm>
            <a:off x="9400946" y="4867351"/>
            <a:ext cx="3600907" cy="1809598"/>
          </a:xfrm>
          <a:prstGeom prst="rect">
            <a:avLst/>
          </a:prstGeom>
          <a:solidFill>
            <a:srgbClr val="DF192A"/>
          </a:solidFill>
          <a:ln w="12700">
            <a:solidFill>
              <a:srgbClr val="FFFFFF">
                <a:alpha val="0"/>
              </a:srgbClr>
            </a:solidFill>
            <a:prstDash val="solid"/>
          </a:ln>
        </p:spPr>
      </p:sp>
      <p:sp>
        <p:nvSpPr>
          <p:cNvPr id="26" name="Text 21"/>
          <p:cNvSpPr txBox="1"/>
          <p:nvPr/>
        </p:nvSpPr>
        <p:spPr>
          <a:xfrm>
            <a:off x="9667951" y="5115154"/>
            <a:ext cx="3067812" cy="277063"/>
          </a:xfrm>
          <a:prstGeom prst="rect">
            <a:avLst/>
          </a:prstGeom>
          <a:noFill/>
          <a:ln/>
        </p:spPr>
        <p:txBody>
          <a:bodyPr wrap="none" lIns="0" tIns="0" rIns="0" bIns="0" rtlCol="0" anchor="ctr"/>
          <a:lstStyle/>
          <a:p>
            <a:pPr marL="0" indent="0" algn="l">
              <a:buNone/>
            </a:pPr>
            <a:r>
              <a:rPr lang="en-US" sz="1650" b="1" kern="0" spc="99" dirty="0">
                <a:solidFill>
                  <a:srgbClr val="FAF7F0">
                    <a:alpha val="90000"/>
                  </a:srgbClr>
                </a:solidFill>
                <a:latin typeface="JetBrains Mono" pitchFamily="34" charset="0"/>
                <a:ea typeface="JetBrains Mono" pitchFamily="34" charset="-122"/>
                <a:cs typeface="JetBrains Mono" pitchFamily="34" charset="-120"/>
              </a:rPr>
              <a:t>Bắt đầu Chương trình</a:t>
            </a:r>
            <a:endParaRPr lang="en-US" sz="1650" dirty="0"/>
          </a:p>
        </p:txBody>
      </p:sp>
      <p:sp>
        <p:nvSpPr>
          <p:cNvPr id="27" name="Text 22"/>
          <p:cNvSpPr txBox="1"/>
          <p:nvPr/>
        </p:nvSpPr>
        <p:spPr>
          <a:xfrm>
            <a:off x="9667951" y="5558638"/>
            <a:ext cx="3067812" cy="790956"/>
          </a:xfrm>
          <a:prstGeom prst="rect">
            <a:avLst/>
          </a:prstGeom>
          <a:noFill/>
          <a:ln/>
        </p:spPr>
        <p:txBody>
          <a:bodyPr wrap="square" lIns="0" tIns="0" rIns="0" bIns="0" rtlCol="0" anchor="ctr"/>
          <a:lstStyle/>
          <a:p>
            <a:pPr marL="0" indent="0" algn="l">
              <a:lnSpc>
                <a:spcPct val="115000"/>
              </a:lnSpc>
              <a:buNone/>
            </a:pPr>
            <a:r>
              <a:rPr lang="en-US" sz="2700" b="1" dirty="0">
                <a:solidFill>
                  <a:srgbClr val="FAF7F0"/>
                </a:solidFill>
                <a:latin typeface="Be Vietnam Pro" pitchFamily="34" charset="0"/>
                <a:ea typeface="Be Vietnam Pro" pitchFamily="34" charset="-122"/>
                <a:cs typeface="Be Vietnam Pro" pitchFamily="34" charset="-120"/>
              </a:rPr>
              <a:t>BẤM ĐÓNG CỔNG</a:t>
            </a:r>
            <a:endParaRPr lang="en-US" sz="2700" dirty="0"/>
          </a:p>
        </p:txBody>
      </p:sp>
      <p:sp>
        <p:nvSpPr>
          <p:cNvPr id="28" name="Shape 23"/>
          <p:cNvSpPr/>
          <p:nvPr/>
        </p:nvSpPr>
        <p:spPr>
          <a:xfrm>
            <a:off x="9667951" y="7477963"/>
            <a:ext cx="3066898" cy="9144"/>
          </a:xfrm>
          <a:prstGeom prst="rect">
            <a:avLst/>
          </a:prstGeom>
          <a:solidFill>
            <a:srgbClr val="EDE4D6"/>
          </a:solidFill>
          <a:ln w="12700">
            <a:solidFill>
              <a:srgbClr val="EDE4D6">
                <a:alpha val="0"/>
              </a:srgbClr>
            </a:solidFill>
            <a:prstDash val="solid"/>
          </a:ln>
        </p:spPr>
      </p:sp>
      <p:sp>
        <p:nvSpPr>
          <p:cNvPr id="29" name="Text 24"/>
          <p:cNvSpPr txBox="1"/>
          <p:nvPr/>
        </p:nvSpPr>
        <p:spPr>
          <a:xfrm>
            <a:off x="9667951" y="6924751"/>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Nút chuyển ĐỎ</a:t>
            </a:r>
            <a:endParaRPr lang="en-US" sz="2025" dirty="0"/>
          </a:p>
        </p:txBody>
      </p:sp>
      <p:sp>
        <p:nvSpPr>
          <p:cNvPr id="30" name="Shape 25"/>
          <p:cNvSpPr/>
          <p:nvPr/>
        </p:nvSpPr>
        <p:spPr>
          <a:xfrm>
            <a:off x="9667951" y="8037576"/>
            <a:ext cx="3066898" cy="9144"/>
          </a:xfrm>
          <a:prstGeom prst="rect">
            <a:avLst/>
          </a:prstGeom>
          <a:solidFill>
            <a:srgbClr val="EDE4D6"/>
          </a:solidFill>
          <a:ln w="12700">
            <a:solidFill>
              <a:srgbClr val="EDE4D6">
                <a:alpha val="0"/>
              </a:srgbClr>
            </a:solidFill>
            <a:prstDash val="solid"/>
          </a:ln>
        </p:spPr>
      </p:sp>
      <p:sp>
        <p:nvSpPr>
          <p:cNvPr id="31" name="Text 26"/>
          <p:cNvSpPr txBox="1"/>
          <p:nvPr/>
        </p:nvSpPr>
        <p:spPr>
          <a:xfrm>
            <a:off x="9667951" y="7484364"/>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Chặn 100% form ngoài</a:t>
            </a:r>
            <a:endParaRPr lang="en-US" sz="2025" dirty="0"/>
          </a:p>
        </p:txBody>
      </p:sp>
      <p:pic>
        <p:nvPicPr>
          <p:cNvPr id="32" name="Image 3" descr="gen-dedup-e057e92386f70695c3811d5a53ff3f9b.png"/>
          <p:cNvPicPr>
            <a:picLocks noChangeAspect="1"/>
          </p:cNvPicPr>
          <p:nvPr/>
        </p:nvPicPr>
        <p:blipFill>
          <a:blip r:embed="rId4"/>
          <a:srcRect/>
          <a:stretch/>
        </p:blipFill>
        <p:spPr>
          <a:xfrm>
            <a:off x="13153644" y="6858000"/>
            <a:ext cx="476402" cy="476402"/>
          </a:xfrm>
          <a:prstGeom prst="rect">
            <a:avLst/>
          </a:prstGeom>
        </p:spPr>
      </p:pic>
      <p:sp>
        <p:nvSpPr>
          <p:cNvPr id="33" name="Shape 27"/>
          <p:cNvSpPr/>
          <p:nvPr/>
        </p:nvSpPr>
        <p:spPr>
          <a:xfrm>
            <a:off x="13525805" y="4858207"/>
            <a:ext cx="3619195" cy="4476902"/>
          </a:xfrm>
          <a:prstGeom prst="rect">
            <a:avLst/>
          </a:prstGeom>
          <a:solidFill>
            <a:srgbClr val="FFFDF8"/>
          </a:solidFill>
          <a:ln w="12700">
            <a:solidFill>
              <a:srgbClr val="E2D6C3"/>
            </a:solidFill>
            <a:prstDash val="solid"/>
          </a:ln>
        </p:spPr>
      </p:sp>
      <p:sp>
        <p:nvSpPr>
          <p:cNvPr id="34" name="Shape 28"/>
          <p:cNvSpPr/>
          <p:nvPr/>
        </p:nvSpPr>
        <p:spPr>
          <a:xfrm>
            <a:off x="13534949" y="4867351"/>
            <a:ext cx="3600907" cy="1809598"/>
          </a:xfrm>
          <a:prstGeom prst="rect">
            <a:avLst/>
          </a:prstGeom>
          <a:solidFill>
            <a:srgbClr val="A78061"/>
          </a:solidFill>
          <a:ln w="12700">
            <a:solidFill>
              <a:srgbClr val="FFFFFF">
                <a:alpha val="0"/>
              </a:srgbClr>
            </a:solidFill>
            <a:prstDash val="solid"/>
          </a:ln>
        </p:spPr>
      </p:sp>
      <p:sp>
        <p:nvSpPr>
          <p:cNvPr id="35" name="Text 29"/>
          <p:cNvSpPr txBox="1"/>
          <p:nvPr/>
        </p:nvSpPr>
        <p:spPr>
          <a:xfrm>
            <a:off x="13801954" y="5115154"/>
            <a:ext cx="3067812" cy="277063"/>
          </a:xfrm>
          <a:prstGeom prst="rect">
            <a:avLst/>
          </a:prstGeom>
          <a:noFill/>
          <a:ln/>
        </p:spPr>
        <p:txBody>
          <a:bodyPr wrap="none" lIns="0" tIns="0" rIns="0" bIns="0" rtlCol="0" anchor="ctr"/>
          <a:lstStyle/>
          <a:p>
            <a:pPr marL="0" indent="0" algn="l">
              <a:buNone/>
            </a:pPr>
            <a:r>
              <a:rPr lang="en-US" sz="1650" b="1" kern="0" spc="99" dirty="0">
                <a:solidFill>
                  <a:srgbClr val="FAF7F0">
                    <a:alpha val="90000"/>
                  </a:srgbClr>
                </a:solidFill>
                <a:latin typeface="JetBrains Mono" pitchFamily="34" charset="0"/>
                <a:ea typeface="JetBrains Mono" pitchFamily="34" charset="-122"/>
                <a:cs typeface="JetBrains Mono" pitchFamily="34" charset="-120"/>
              </a:rPr>
              <a:t>Trước Bốc Thăm</a:t>
            </a:r>
            <a:endParaRPr lang="en-US" sz="1650" dirty="0"/>
          </a:p>
        </p:txBody>
      </p:sp>
      <p:sp>
        <p:nvSpPr>
          <p:cNvPr id="36" name="Text 30"/>
          <p:cNvSpPr txBox="1"/>
          <p:nvPr/>
        </p:nvSpPr>
        <p:spPr>
          <a:xfrm>
            <a:off x="13801954" y="5558638"/>
            <a:ext cx="3067812" cy="400507"/>
          </a:xfrm>
          <a:prstGeom prst="rect">
            <a:avLst/>
          </a:prstGeom>
          <a:noFill/>
          <a:ln/>
        </p:spPr>
        <p:txBody>
          <a:bodyPr wrap="none" lIns="0" tIns="0" rIns="0" bIns="0" rtlCol="0" anchor="ctr"/>
          <a:lstStyle/>
          <a:p>
            <a:pPr marL="0" indent="0" algn="l">
              <a:buNone/>
            </a:pPr>
            <a:r>
              <a:rPr lang="en-US" sz="2700" b="1" dirty="0">
                <a:solidFill>
                  <a:srgbClr val="FAF7F0"/>
                </a:solidFill>
                <a:latin typeface="Be Vietnam Pro" pitchFamily="34" charset="0"/>
                <a:ea typeface="Be Vietnam Pro" pitchFamily="34" charset="-122"/>
                <a:cs typeface="Be Vietnam Pro" pitchFamily="34" charset="-120"/>
              </a:rPr>
              <a:t>XUẤT SỔ ERP</a:t>
            </a:r>
            <a:endParaRPr lang="en-US" sz="2700" dirty="0"/>
          </a:p>
        </p:txBody>
      </p:sp>
      <p:sp>
        <p:nvSpPr>
          <p:cNvPr id="37" name="Shape 31"/>
          <p:cNvSpPr/>
          <p:nvPr/>
        </p:nvSpPr>
        <p:spPr>
          <a:xfrm>
            <a:off x="13801954" y="7477963"/>
            <a:ext cx="3066898" cy="9144"/>
          </a:xfrm>
          <a:prstGeom prst="rect">
            <a:avLst/>
          </a:prstGeom>
          <a:solidFill>
            <a:srgbClr val="EDE4D6"/>
          </a:solidFill>
          <a:ln w="12700">
            <a:solidFill>
              <a:srgbClr val="EDE4D6">
                <a:alpha val="0"/>
              </a:srgbClr>
            </a:solidFill>
            <a:prstDash val="solid"/>
          </a:ln>
        </p:spPr>
      </p:sp>
      <p:sp>
        <p:nvSpPr>
          <p:cNvPr id="38" name="Text 32"/>
          <p:cNvSpPr txBox="1"/>
          <p:nvPr/>
        </p:nvSpPr>
        <p:spPr>
          <a:xfrm>
            <a:off x="13801954" y="6924751"/>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Khóa danh sách</a:t>
            </a:r>
            <a:endParaRPr lang="en-US" sz="2025" dirty="0"/>
          </a:p>
        </p:txBody>
      </p:sp>
      <p:sp>
        <p:nvSpPr>
          <p:cNvPr id="39" name="Shape 33"/>
          <p:cNvSpPr/>
          <p:nvPr/>
        </p:nvSpPr>
        <p:spPr>
          <a:xfrm>
            <a:off x="13801954" y="8037576"/>
            <a:ext cx="3066898" cy="9144"/>
          </a:xfrm>
          <a:prstGeom prst="rect">
            <a:avLst/>
          </a:prstGeom>
          <a:solidFill>
            <a:srgbClr val="EDE4D6"/>
          </a:solidFill>
          <a:ln w="12700">
            <a:solidFill>
              <a:srgbClr val="EDE4D6">
                <a:alpha val="0"/>
              </a:srgbClr>
            </a:solidFill>
            <a:prstDash val="solid"/>
          </a:ln>
        </p:spPr>
      </p:sp>
      <p:sp>
        <p:nvSpPr>
          <p:cNvPr id="40" name="Text 34"/>
          <p:cNvSpPr txBox="1"/>
          <p:nvPr/>
        </p:nvSpPr>
        <p:spPr>
          <a:xfrm>
            <a:off x="13801954" y="7484364"/>
            <a:ext cx="3067812" cy="458114"/>
          </a:xfrm>
          <a:prstGeom prst="rect">
            <a:avLst/>
          </a:prstGeom>
          <a:solidFill>
            <a:srgbClr val="FFFFFF">
              <a:alpha val="0"/>
            </a:srgbClr>
          </a:solidFill>
          <a:ln>
            <a:solidFill>
              <a:srgbClr val="FFFFFF">
                <a:alpha val="0"/>
              </a:srgbClr>
            </a:solidFill>
          </a:ln>
        </p:spPr>
        <p:txBody>
          <a:bodyPr wrap="none" lIns="101600" tIns="101600" rIns="101600" bIns="0" rtlCol="0" anchor="ctr"/>
          <a:lstStyle/>
          <a:p>
            <a:pPr marL="0" indent="0" algn="l">
              <a:lnSpc>
                <a:spcPts val="2835"/>
              </a:lnSpc>
              <a:buNone/>
            </a:pPr>
            <a:r>
              <a:rPr lang="en-US" sz="2025" dirty="0">
                <a:solidFill>
                  <a:srgbClr val="181E19"/>
                </a:solidFill>
                <a:latin typeface="Be Vietnam Pro" pitchFamily="34" charset="0"/>
                <a:ea typeface="Be Vietnam Pro" pitchFamily="34" charset="-122"/>
                <a:cs typeface="Be Vietnam Pro" pitchFamily="34" charset="-120"/>
              </a:rPr>
              <a:t>Giao MC bốc thăm</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1143000" y="2247595"/>
            <a:ext cx="6667805" cy="7467905"/>
          </a:xfrm>
          <a:prstGeom prst="rect">
            <a:avLst/>
          </a:prstGeom>
          <a:solidFill>
            <a:srgbClr val="5D614F"/>
          </a:solidFill>
          <a:ln w="12700">
            <a:solidFill>
              <a:srgbClr val="FFFFFF">
                <a:alpha val="0"/>
              </a:srgbClr>
            </a:solidFill>
            <a:prstDash val="solid"/>
          </a:ln>
        </p:spPr>
      </p:sp>
      <p:sp>
        <p:nvSpPr>
          <p:cNvPr id="3" name="Text 1"/>
          <p:cNvSpPr txBox="1"/>
          <p:nvPr/>
        </p:nvSpPr>
        <p:spPr>
          <a:xfrm>
            <a:off x="1143000" y="533095"/>
            <a:ext cx="16002000" cy="581558"/>
          </a:xfrm>
          <a:prstGeom prst="rect">
            <a:avLst/>
          </a:prstGeom>
          <a:noFill/>
          <a:ln/>
        </p:spPr>
        <p:txBody>
          <a:bodyPr wrap="none" lIns="0" tIns="0" rIns="0" bIns="0" rtlCol="0" anchor="ctr"/>
          <a:lstStyle/>
          <a:p>
            <a:pPr marL="0" indent="0" algn="l">
              <a:buNone/>
            </a:pPr>
            <a:r>
              <a:rPr lang="en-US" sz="4050" b="1" dirty="0">
                <a:solidFill>
                  <a:srgbClr val="181E19"/>
                </a:solidFill>
                <a:latin typeface="Playfair Display" pitchFamily="34" charset="0"/>
                <a:ea typeface="Playfair Display" pitchFamily="34" charset="-122"/>
                <a:cs typeface="Playfair Display" pitchFamily="34" charset="-120"/>
              </a:rPr>
              <a:t>BẢN ĐỒ PHỦ SÓNG QR &amp; HƯỚNG DẪN 3 BƯỚC CHO SALE</a:t>
            </a:r>
            <a:endParaRPr lang="en-US" sz="4050" dirty="0"/>
          </a:p>
        </p:txBody>
      </p:sp>
      <p:sp>
        <p:nvSpPr>
          <p:cNvPr id="4" name="Text 2"/>
          <p:cNvSpPr txBox="1"/>
          <p:nvPr/>
        </p:nvSpPr>
        <p:spPr>
          <a:xfrm>
            <a:off x="1143000" y="1223467"/>
            <a:ext cx="16002000" cy="362102"/>
          </a:xfrm>
          <a:prstGeom prst="rect">
            <a:avLst/>
          </a:prstGeom>
          <a:noFill/>
          <a:ln/>
        </p:spPr>
        <p:txBody>
          <a:bodyPr wrap="none" lIns="0" tIns="0" rIns="0" bIns="0" rtlCol="0" anchor="ctr"/>
          <a:lstStyle/>
          <a:p>
            <a:pPr marL="0" indent="0" algn="l">
              <a:buNone/>
            </a:pPr>
            <a:r>
              <a:rPr lang="en-US" sz="2100" i="1" dirty="0">
                <a:solidFill>
                  <a:srgbClr val="5D614F"/>
                </a:solidFill>
                <a:latin typeface="Be Vietnam Pro" pitchFamily="34" charset="0"/>
                <a:ea typeface="Be Vietnam Pro" pitchFamily="34" charset="-122"/>
                <a:cs typeface="Be Vietnam Pro" pitchFamily="34" charset="-120"/>
              </a:rPr>
              <a:t>Lưu ý thực địa tinh gọn dành cho Team Event nhằm triệt tiêu điểm nghẽn cửa vào</a:t>
            </a:r>
            <a:endParaRPr lang="en-US" sz="2100" dirty="0"/>
          </a:p>
        </p:txBody>
      </p:sp>
      <p:sp>
        <p:nvSpPr>
          <p:cNvPr id="5" name="Text 3"/>
          <p:cNvSpPr txBox="1"/>
          <p:nvPr/>
        </p:nvSpPr>
        <p:spPr>
          <a:xfrm>
            <a:off x="1543507" y="2609698"/>
            <a:ext cx="5906110" cy="324612"/>
          </a:xfrm>
          <a:prstGeom prst="rect">
            <a:avLst/>
          </a:prstGeom>
          <a:noFill/>
          <a:ln/>
        </p:spPr>
        <p:txBody>
          <a:bodyPr wrap="none" lIns="0" tIns="0" rIns="0" bIns="0" rtlCol="0" anchor="ctr"/>
          <a:lstStyle/>
          <a:p>
            <a:pPr marL="0" indent="0" algn="l">
              <a:buNone/>
            </a:pPr>
            <a:r>
              <a:rPr lang="en-US" sz="1950" b="1" kern="0" spc="117" dirty="0">
                <a:solidFill>
                  <a:srgbClr val="E2C7A9"/>
                </a:solidFill>
                <a:latin typeface="Be Vietnam Pro" pitchFamily="34" charset="0"/>
                <a:ea typeface="Be Vietnam Pro" pitchFamily="34" charset="-122"/>
                <a:cs typeface="Be Vietnam Pro" pitchFamily="34" charset="-120"/>
              </a:rPr>
              <a:t>LƯU Ý THỰC ĐỊA DÀNH CHO TEAM EVENT</a:t>
            </a:r>
            <a:endParaRPr lang="en-US" sz="1950" dirty="0"/>
          </a:p>
        </p:txBody>
      </p:sp>
      <p:sp>
        <p:nvSpPr>
          <p:cNvPr id="6" name="Text 4"/>
          <p:cNvSpPr txBox="1"/>
          <p:nvPr/>
        </p:nvSpPr>
        <p:spPr>
          <a:xfrm>
            <a:off x="1543507" y="3198571"/>
            <a:ext cx="5906110" cy="3844138"/>
          </a:xfrm>
          <a:prstGeom prst="rect">
            <a:avLst/>
          </a:prstGeom>
          <a:noFill/>
          <a:ln/>
        </p:spPr>
        <p:txBody>
          <a:bodyPr wrap="square" lIns="0" tIns="0" rIns="0" bIns="0" rtlCol="0" anchor="t"/>
          <a:lstStyle/>
          <a:p>
            <a:pPr marL="0" indent="0" algn="l">
              <a:buNone/>
            </a:pPr>
            <a:r>
              <a:rPr lang="en-US" sz="1200" dirty="0">
                <a:solidFill>
                  <a:srgbClr val="F3ECE0"/>
                </a:solidFill>
                <a:latin typeface="Be Vietnam Pro" pitchFamily="34" charset="0"/>
                <a:ea typeface="Be Vietnam Pro" pitchFamily="34" charset="-122"/>
                <a:cs typeface="Be Vietnam Pro" pitchFamily="34" charset="-120"/>
              </a:rPr>
              <a:t>​</a:t>
            </a:r>
            <a:r>
              <a:rPr lang="en-US" sz="1875" b="1" dirty="0">
                <a:solidFill>
                  <a:srgbClr val="FAF7F0"/>
                </a:solidFill>
                <a:latin typeface="Be Vietnam Pro" pitchFamily="34" charset="0"/>
                <a:ea typeface="Be Vietnam Pro" pitchFamily="34" charset="-122"/>
                <a:cs typeface="Be Vietnam Pro" pitchFamily="34" charset="-120"/>
              </a:rPr>
              <a:t>Phân bổ QR ở nhiều vị trí</a:t>
            </a:r>
            <a:r>
              <a:rPr lang="en-US" sz="1875" dirty="0">
                <a:solidFill>
                  <a:srgbClr val="F3ECE0"/>
                </a:solidFill>
                <a:latin typeface="Be Vietnam Pro" pitchFamily="34" charset="0"/>
                <a:ea typeface="Be Vietnam Pro" pitchFamily="34" charset="-122"/>
                <a:cs typeface="Be Vietnam Pro" pitchFamily="34" charset="-120"/>
              </a:rPr>
              <a:t>: Bố trí QR Standee tại Cổng an ninh đón khách, dọc sảnh chờ Foyer/Khu vực Tea-break, Backdrop chụp hình và in kèm mặt sau thẻ đeo/leaflet phát tay. Tránh dồn tất cả Standee tại một cửa ra vào.</a:t>
            </a:r>
            <a:endParaRPr lang="en-US" sz="1200" dirty="0"/>
          </a:p>
          <a:p>
            <a:pPr marL="0" indent="0" algn="l">
              <a:buNone/>
            </a:pPr>
            <a:r>
              <a:rPr lang="en-US" sz="1200" dirty="0">
                <a:solidFill>
                  <a:srgbClr val="F3ECE0"/>
                </a:solidFill>
                <a:latin typeface="Be Vietnam Pro" pitchFamily="34" charset="0"/>
                <a:ea typeface="Be Vietnam Pro" pitchFamily="34" charset="-122"/>
                <a:cs typeface="Be Vietnam Pro" pitchFamily="34" charset="-120"/>
              </a:rPr>
              <a:t>​</a:t>
            </a:r>
            <a:r>
              <a:rPr lang="en-US" sz="1875" b="1" dirty="0">
                <a:solidFill>
                  <a:srgbClr val="FAF7F0"/>
                </a:solidFill>
                <a:latin typeface="Be Vietnam Pro" pitchFamily="34" charset="0"/>
                <a:ea typeface="Be Vietnam Pro" pitchFamily="34" charset="-122"/>
                <a:cs typeface="Be Vietnam Pro" pitchFamily="34" charset="-120"/>
              </a:rPr>
              <a:t>Chiếu màn hình LED hội trường</a:t>
            </a:r>
            <a:r>
              <a:rPr lang="en-US" sz="1875" dirty="0">
                <a:solidFill>
                  <a:srgbClr val="F3ECE0"/>
                </a:solidFill>
                <a:latin typeface="Be Vietnam Pro" pitchFamily="34" charset="0"/>
                <a:ea typeface="Be Vietnam Pro" pitchFamily="34" charset="-122"/>
                <a:cs typeface="Be Vietnam Pro" pitchFamily="34" charset="-120"/>
              </a:rPr>
              <a:t>: Chiếu mã QR kích thước lớn toàn màn hình LED trong hội trường chính từ 08:30 đến khi khai mạc để các Sales đã ổn định chỗ ngồi vẫn có thể quét check-in thuận tiện mà không phải di chuyển.</a:t>
            </a:r>
            <a:endParaRPr lang="en-US" sz="1200" dirty="0"/>
          </a:p>
        </p:txBody>
      </p:sp>
      <p:sp>
        <p:nvSpPr>
          <p:cNvPr id="7" name="Text 5"/>
          <p:cNvSpPr txBox="1"/>
          <p:nvPr/>
        </p:nvSpPr>
        <p:spPr>
          <a:xfrm>
            <a:off x="8382305" y="2247595"/>
            <a:ext cx="11049610" cy="457200"/>
          </a:xfrm>
          <a:prstGeom prst="rect">
            <a:avLst/>
          </a:prstGeom>
          <a:noFill/>
          <a:ln/>
        </p:spPr>
        <p:txBody>
          <a:bodyPr wrap="none" lIns="0" tIns="0" rIns="0" bIns="0" rtlCol="0" anchor="ctr"/>
          <a:lstStyle/>
          <a:p>
            <a:pPr marL="0" indent="0" algn="l">
              <a:buNone/>
            </a:pPr>
            <a:r>
              <a:rPr lang="en-US" sz="3000" b="1" dirty="0">
                <a:solidFill>
                  <a:srgbClr val="181E19"/>
                </a:solidFill>
                <a:latin typeface="Playfair Display" pitchFamily="34" charset="0"/>
                <a:ea typeface="Playfair Display" pitchFamily="34" charset="-122"/>
                <a:cs typeface="Playfair Display" pitchFamily="34" charset="-120"/>
              </a:rPr>
              <a:t>3 Bước Check-in Siêu Tốc Cho Sales </a:t>
            </a:r>
            <a:r>
              <a:rPr lang="en-US" sz="3000" b="1" dirty="0">
                <a:solidFill>
                  <a:srgbClr val="A78061"/>
                </a:solidFill>
                <a:latin typeface="Playfair Display" pitchFamily="34" charset="0"/>
                <a:ea typeface="Playfair Display" pitchFamily="34" charset="-122"/>
                <a:cs typeface="Playfair Display" pitchFamily="34" charset="-120"/>
              </a:rPr>
              <a:t>(Chỉ 15 Giây)</a:t>
            </a:r>
            <a:endParaRPr lang="en-US" sz="3000" dirty="0"/>
          </a:p>
        </p:txBody>
      </p:sp>
      <p:sp>
        <p:nvSpPr>
          <p:cNvPr id="8" name="Text 6"/>
          <p:cNvSpPr txBox="1"/>
          <p:nvPr/>
        </p:nvSpPr>
        <p:spPr>
          <a:xfrm>
            <a:off x="8382305" y="2800807"/>
            <a:ext cx="8892540" cy="324612"/>
          </a:xfrm>
          <a:prstGeom prst="rect">
            <a:avLst/>
          </a:prstGeom>
          <a:noFill/>
          <a:ln/>
        </p:spPr>
        <p:txBody>
          <a:bodyPr wrap="none" lIns="0" tIns="0" rIns="0" bIns="0" rtlCol="0" anchor="ctr"/>
          <a:lstStyle/>
          <a:p>
            <a:pPr marL="0" indent="0" algn="l">
              <a:buNone/>
            </a:pPr>
            <a:r>
              <a:rPr lang="en-US" sz="1800" i="1" dirty="0">
                <a:solidFill>
                  <a:srgbClr val="5D614F"/>
                </a:solidFill>
                <a:latin typeface="Be Vietnam Pro" pitchFamily="34" charset="0"/>
                <a:ea typeface="Be Vietnam Pro" pitchFamily="34" charset="-122"/>
                <a:cs typeface="Be Vietnam Pro" pitchFamily="34" charset="-120"/>
              </a:rPr>
              <a:t>(Nội dung ngắn gọn in trực tiếp lên Standee và Leaflet phát tay)</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382305" y="3771900"/>
          <a:ext cx="8762696" cy="4877412"/>
        </p:xfrm>
        <a:graphic>
          <a:graphicData uri="http://schemas.openxmlformats.org/drawingml/2006/table">
            <a:tbl>
              <a:tblPr/>
              <a:tblGrid>
                <a:gridCol w="1714500">
                  <a:extLst>
                    <a:ext uri="{9D8B030D-6E8A-4147-A177-3AD203B41FA5}">
                      <a16:colId xmlns:a16="http://schemas.microsoft.com/office/drawing/2014/main" val="20000"/>
                    </a:ext>
                  </a:extLst>
                </a:gridCol>
                <a:gridCol w="2381098">
                  <a:extLst>
                    <a:ext uri="{9D8B030D-6E8A-4147-A177-3AD203B41FA5}">
                      <a16:colId xmlns:a16="http://schemas.microsoft.com/office/drawing/2014/main" val="20001"/>
                    </a:ext>
                  </a:extLst>
                </a:gridCol>
                <a:gridCol w="4667098">
                  <a:extLst>
                    <a:ext uri="{9D8B030D-6E8A-4147-A177-3AD203B41FA5}">
                      <a16:colId xmlns:a16="http://schemas.microsoft.com/office/drawing/2014/main" val="20002"/>
                    </a:ext>
                  </a:extLst>
                </a:gridCol>
              </a:tblGrid>
              <a:tr h="1219353">
                <a:tc>
                  <a:txBody>
                    <a:bodyPr/>
                    <a:lstStyle/>
                    <a:p>
                      <a:pPr marL="0" indent="0" algn="l">
                        <a:buNone/>
                      </a:pPr>
                      <a:r>
                        <a:rPr lang="en-US" sz="1650" b="1" dirty="0">
                          <a:solidFill>
                            <a:srgbClr val="5D614F"/>
                          </a:solidFill>
                          <a:latin typeface="Be Vietnam Pro" pitchFamily="34" charset="0"/>
                          <a:ea typeface="Be Vietnam Pro" pitchFamily="34" charset="-122"/>
                          <a:cs typeface="Be Vietnam Pro" pitchFamily="34" charset="-120"/>
                        </a:rPr>
                        <a:t>BƯỚC</a:t>
                      </a:r>
                      <a:endParaRPr lang="en-US" sz="1650" dirty="0">
                        <a:latin typeface="Be Vietnam Pro" charset="0"/>
                        <a:ea typeface="Be Vietnam Pro" charset="0"/>
                        <a:cs typeface="Be Vietnam Pro" charset="0"/>
                      </a:endParaRPr>
                    </a:p>
                  </a:txBody>
                  <a:tcPr marL="190195" marR="190195" marT="0" marB="133502" anchor="ctr">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0" cap="flat" cmpd="sng" algn="ctr">
                      <a:solidFill>
                        <a:srgbClr val="181E19"/>
                      </a:solidFill>
                      <a:prstDash val="solid"/>
                      <a:round/>
                      <a:headEnd type="none" w="med" len="med"/>
                      <a:tailEnd type="none" w="med" len="med"/>
                    </a:lnT>
                    <a:lnB w="28575" cap="flat" cmpd="sng" algn="ctr">
                      <a:solidFill>
                        <a:srgbClr val="181E19"/>
                      </a:solidFill>
                      <a:prstDash val="solid"/>
                      <a:round/>
                      <a:headEnd type="none" w="med" len="med"/>
                      <a:tailEnd type="none" w="med" len="med"/>
                    </a:lnB>
                  </a:tcPr>
                </a:tc>
                <a:tc>
                  <a:txBody>
                    <a:bodyPr/>
                    <a:lstStyle/>
                    <a:p>
                      <a:pPr marL="0" indent="0" algn="l">
                        <a:buNone/>
                      </a:pPr>
                      <a:r>
                        <a:rPr lang="en-US" sz="1650" b="1" dirty="0">
                          <a:solidFill>
                            <a:srgbClr val="5D614F"/>
                          </a:solidFill>
                          <a:latin typeface="Be Vietnam Pro" pitchFamily="34" charset="0"/>
                          <a:ea typeface="Be Vietnam Pro" pitchFamily="34" charset="-122"/>
                          <a:cs typeface="Be Vietnam Pro" pitchFamily="34" charset="-120"/>
                        </a:rPr>
                        <a:t>HÀNH ĐỘNG</a:t>
                      </a:r>
                      <a:endParaRPr lang="en-US" sz="1650" dirty="0">
                        <a:latin typeface="Be Vietnam Pro" charset="0"/>
                        <a:ea typeface="Be Vietnam Pro" charset="0"/>
                        <a:cs typeface="Be Vietnam Pro" charset="0"/>
                      </a:endParaRPr>
                    </a:p>
                  </a:txBody>
                  <a:tcPr marL="190195" marR="190195" marT="0" marB="133502" anchor="ctr">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0" cap="flat" cmpd="sng" algn="ctr">
                      <a:solidFill>
                        <a:srgbClr val="181E19"/>
                      </a:solidFill>
                      <a:prstDash val="solid"/>
                      <a:round/>
                      <a:headEnd type="none" w="med" len="med"/>
                      <a:tailEnd type="none" w="med" len="med"/>
                    </a:lnT>
                    <a:lnB w="28575" cap="flat" cmpd="sng" algn="ctr">
                      <a:solidFill>
                        <a:srgbClr val="181E19"/>
                      </a:solidFill>
                      <a:prstDash val="solid"/>
                      <a:round/>
                      <a:headEnd type="none" w="med" len="med"/>
                      <a:tailEnd type="none" w="med" len="med"/>
                    </a:lnB>
                  </a:tcPr>
                </a:tc>
                <a:tc>
                  <a:txBody>
                    <a:bodyPr/>
                    <a:lstStyle/>
                    <a:p>
                      <a:pPr marL="0" indent="0" algn="l">
                        <a:buNone/>
                      </a:pPr>
                      <a:r>
                        <a:rPr lang="en-US" sz="1650" b="1" dirty="0">
                          <a:solidFill>
                            <a:srgbClr val="5D614F"/>
                          </a:solidFill>
                          <a:latin typeface="Be Vietnam Pro" pitchFamily="34" charset="0"/>
                          <a:ea typeface="Be Vietnam Pro" pitchFamily="34" charset="-122"/>
                          <a:cs typeface="Be Vietnam Pro" pitchFamily="34" charset="-120"/>
                        </a:rPr>
                        <a:t>CHI TIẾT THAO TÁC CỦA SALES</a:t>
                      </a:r>
                      <a:endParaRPr lang="en-US" sz="1650" dirty="0">
                        <a:latin typeface="Be Vietnam Pro" charset="0"/>
                        <a:ea typeface="Be Vietnam Pro" charset="0"/>
                        <a:cs typeface="Be Vietnam Pro" charset="0"/>
                      </a:endParaRPr>
                    </a:p>
                  </a:txBody>
                  <a:tcPr marL="190195" marR="190195" marT="0" marB="133502" anchor="ctr">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0" cap="flat" cmpd="sng" algn="ctr">
                      <a:solidFill>
                        <a:srgbClr val="181E19"/>
                      </a:solidFill>
                      <a:prstDash val="solid"/>
                      <a:round/>
                      <a:headEnd type="none" w="med" len="med"/>
                      <a:tailEnd type="none" w="med" len="med"/>
                    </a:lnT>
                    <a:lnB w="28575" cap="flat" cmpd="sng" algn="ctr">
                      <a:solidFill>
                        <a:srgbClr val="181E19"/>
                      </a:solidFill>
                      <a:prstDash val="solid"/>
                      <a:round/>
                      <a:headEnd type="none" w="med" len="med"/>
                      <a:tailEnd type="none" w="med" len="med"/>
                    </a:lnB>
                  </a:tcPr>
                </a:tc>
                <a:extLst>
                  <a:ext uri="{0D108BD9-81ED-4DB2-BD59-A6C34878D82A}">
                    <a16:rowId xmlns:a16="http://schemas.microsoft.com/office/drawing/2014/main" val="10000"/>
                  </a:ext>
                </a:extLst>
              </a:tr>
              <a:tr h="1219353">
                <a:tc>
                  <a:txBody>
                    <a:bodyPr/>
                    <a:lstStyle/>
                    <a:p>
                      <a:pPr marL="0" indent="0">
                        <a:buNone/>
                      </a:pPr>
                      <a:r>
                        <a:rPr lang="en-US" sz="2550" b="1" dirty="0">
                          <a:solidFill>
                            <a:srgbClr val="A78061"/>
                          </a:solidFill>
                          <a:latin typeface="Playfair Display" pitchFamily="34" charset="0"/>
                          <a:ea typeface="Playfair Display" pitchFamily="34" charset="-122"/>
                          <a:cs typeface="Playfair Display" pitchFamily="34" charset="-120"/>
                        </a:rPr>
                        <a:t>BƯỚC 1</a:t>
                      </a:r>
                      <a:endParaRPr lang="en-US" sz="2550" dirty="0">
                        <a:latin typeface="Playfair Display" charset="0"/>
                        <a:ea typeface="Playfair Display" charset="0"/>
                        <a:cs typeface="Playfair Display"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28575" cap="flat" cmpd="sng" algn="ctr">
                      <a:solidFill>
                        <a:srgbClr val="181E19"/>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2100" b="1" dirty="0">
                          <a:solidFill>
                            <a:srgbClr val="181E19"/>
                          </a:solidFill>
                          <a:latin typeface="Be Vietnam Pro" pitchFamily="34" charset="0"/>
                          <a:ea typeface="Be Vietnam Pro" pitchFamily="34" charset="-122"/>
                          <a:cs typeface="Be Vietnam Pro" pitchFamily="34" charset="-120"/>
                        </a:rPr>
                        <a:t>Quét Mã QR</a:t>
                      </a:r>
                      <a:endParaRPr lang="en-US" sz="2100" dirty="0">
                        <a:latin typeface="Be Vietnam Pro" charset="0"/>
                        <a:ea typeface="Be Vietnam Pro" charset="0"/>
                        <a:cs typeface="Be Vietnam Pro"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28575" cap="flat" cmpd="sng" algn="ctr">
                      <a:solidFill>
                        <a:srgbClr val="181E19"/>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1950" dirty="0">
                          <a:solidFill>
                            <a:srgbClr val="181E19"/>
                          </a:solidFill>
                          <a:latin typeface="Be Vietnam Pro" pitchFamily="34" charset="0"/>
                          <a:ea typeface="Be Vietnam Pro" pitchFamily="34" charset="-122"/>
                          <a:cs typeface="Be Vietnam Pro" pitchFamily="34" charset="-120"/>
                        </a:rPr>
                        <a:t>Mở Zalo hoặc Camera điện thoại, quét mã QR trên Standee / Màn hình LED</a:t>
                      </a:r>
                      <a:endParaRPr lang="en-US" sz="1950" dirty="0">
                        <a:latin typeface="Be Vietnam Pro" charset="0"/>
                        <a:ea typeface="Be Vietnam Pro" charset="0"/>
                        <a:cs typeface="Be Vietnam Pro"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28575" cap="flat" cmpd="sng" algn="ctr">
                      <a:solidFill>
                        <a:srgbClr val="181E19"/>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extLst>
                  <a:ext uri="{0D108BD9-81ED-4DB2-BD59-A6C34878D82A}">
                    <a16:rowId xmlns:a16="http://schemas.microsoft.com/office/drawing/2014/main" val="10001"/>
                  </a:ext>
                </a:extLst>
              </a:tr>
              <a:tr h="1219353">
                <a:tc>
                  <a:txBody>
                    <a:bodyPr/>
                    <a:lstStyle/>
                    <a:p>
                      <a:pPr marL="0" indent="0">
                        <a:buNone/>
                      </a:pPr>
                      <a:r>
                        <a:rPr lang="en-US" sz="2550" b="1" dirty="0">
                          <a:solidFill>
                            <a:srgbClr val="A78061"/>
                          </a:solidFill>
                          <a:latin typeface="Playfair Display" pitchFamily="34" charset="0"/>
                          <a:ea typeface="Playfair Display" pitchFamily="34" charset="-122"/>
                          <a:cs typeface="Playfair Display" pitchFamily="34" charset="-120"/>
                        </a:rPr>
                        <a:t>BƯỚC 2</a:t>
                      </a:r>
                      <a:endParaRPr lang="en-US" sz="2550" dirty="0">
                        <a:latin typeface="Playfair Display" charset="0"/>
                        <a:ea typeface="Playfair Display" charset="0"/>
                        <a:cs typeface="Playfair Display"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2100" b="1" dirty="0">
                          <a:solidFill>
                            <a:srgbClr val="181E19"/>
                          </a:solidFill>
                          <a:latin typeface="Be Vietnam Pro" pitchFamily="34" charset="0"/>
                          <a:ea typeface="Be Vietnam Pro" pitchFamily="34" charset="-122"/>
                          <a:cs typeface="Be Vietnam Pro" pitchFamily="34" charset="-120"/>
                        </a:rPr>
                        <a:t>Nhập Thông Tin</a:t>
                      </a:r>
                      <a:endParaRPr lang="en-US" sz="2100" dirty="0">
                        <a:latin typeface="Be Vietnam Pro" charset="0"/>
                        <a:ea typeface="Be Vietnam Pro" charset="0"/>
                        <a:cs typeface="Be Vietnam Pro"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1950" dirty="0">
                          <a:solidFill>
                            <a:srgbClr val="181E19"/>
                          </a:solidFill>
                          <a:latin typeface="Be Vietnam Pro" pitchFamily="34" charset="0"/>
                          <a:ea typeface="Be Vietnam Pro" pitchFamily="34" charset="-122"/>
                          <a:cs typeface="Be Vietnam Pro" pitchFamily="34" charset="-120"/>
                        </a:rPr>
                        <a:t>Điền </a:t>
                      </a:r>
                      <a:r>
                        <a:rPr lang="en-US" sz="1950" b="1" dirty="0">
                          <a:solidFill>
                            <a:srgbClr val="181E19"/>
                          </a:solidFill>
                          <a:latin typeface="Be Vietnam Pro" pitchFamily="34" charset="0"/>
                          <a:ea typeface="Be Vietnam Pro" pitchFamily="34" charset="-122"/>
                          <a:cs typeface="Be Vietnam Pro" pitchFamily="34" charset="-120"/>
                        </a:rPr>
                        <a:t>Họ Tên</a:t>
                      </a:r>
                      <a:r>
                        <a:rPr lang="en-US" sz="1950" dirty="0">
                          <a:solidFill>
                            <a:srgbClr val="181E19"/>
                          </a:solidFill>
                          <a:latin typeface="Be Vietnam Pro" pitchFamily="34" charset="0"/>
                          <a:ea typeface="Be Vietnam Pro" pitchFamily="34" charset="-122"/>
                          <a:cs typeface="Be Vietnam Pro" pitchFamily="34" charset="-120"/>
                        </a:rPr>
                        <a:t>, </a:t>
                      </a:r>
                      <a:r>
                        <a:rPr lang="en-US" sz="1950" b="1" dirty="0">
                          <a:solidFill>
                            <a:srgbClr val="181E19"/>
                          </a:solidFill>
                          <a:latin typeface="Be Vietnam Pro" pitchFamily="34" charset="0"/>
                          <a:ea typeface="Be Vietnam Pro" pitchFamily="34" charset="-122"/>
                          <a:cs typeface="Be Vietnam Pro" pitchFamily="34" charset="-120"/>
                        </a:rPr>
                        <a:t>SĐT</a:t>
                      </a:r>
                      <a:r>
                        <a:rPr lang="en-US" sz="1950" dirty="0">
                          <a:solidFill>
                            <a:srgbClr val="181E19"/>
                          </a:solidFill>
                          <a:latin typeface="Be Vietnam Pro" pitchFamily="34" charset="0"/>
                          <a:ea typeface="Be Vietnam Pro" pitchFamily="34" charset="-122"/>
                          <a:cs typeface="Be Vietnam Pro" pitchFamily="34" charset="-120"/>
                        </a:rPr>
                        <a:t>, </a:t>
                      </a:r>
                      <a:r>
                        <a:rPr lang="en-US" sz="1950" b="1" dirty="0">
                          <a:solidFill>
                            <a:srgbClr val="181E19"/>
                          </a:solidFill>
                          <a:latin typeface="Be Vietnam Pro" pitchFamily="34" charset="0"/>
                          <a:ea typeface="Be Vietnam Pro" pitchFamily="34" charset="-122"/>
                          <a:cs typeface="Be Vietnam Pro" pitchFamily="34" charset="-120"/>
                        </a:rPr>
                        <a:t>6 số cuối CCCD</a:t>
                      </a:r>
                      <a:r>
                        <a:rPr lang="en-US" sz="1950" dirty="0">
                          <a:solidFill>
                            <a:srgbClr val="181E19"/>
                          </a:solidFill>
                          <a:latin typeface="Be Vietnam Pro" pitchFamily="34" charset="0"/>
                          <a:ea typeface="Be Vietnam Pro" pitchFamily="34" charset="-122"/>
                          <a:cs typeface="Be Vietnam Pro" pitchFamily="34" charset="-120"/>
                        </a:rPr>
                        <a:t>, chọn </a:t>
                      </a:r>
                      <a:r>
                        <a:rPr lang="en-US" sz="1950" b="1" dirty="0">
                          <a:solidFill>
                            <a:srgbClr val="181E19"/>
                          </a:solidFill>
                          <a:latin typeface="Be Vietnam Pro" pitchFamily="34" charset="0"/>
                          <a:ea typeface="Be Vietnam Pro" pitchFamily="34" charset="-122"/>
                          <a:cs typeface="Be Vietnam Pro" pitchFamily="34" charset="-120"/>
                        </a:rPr>
                        <a:t>Sàn F1</a:t>
                      </a:r>
                      <a:r>
                        <a:rPr lang="en-US" sz="1950" dirty="0">
                          <a:solidFill>
                            <a:srgbClr val="181E19"/>
                          </a:solidFill>
                          <a:latin typeface="Be Vietnam Pro" pitchFamily="34" charset="0"/>
                          <a:ea typeface="Be Vietnam Pro" pitchFamily="34" charset="-122"/>
                          <a:cs typeface="Be Vietnam Pro" pitchFamily="34" charset="-120"/>
                        </a:rPr>
                        <a:t> và bấm </a:t>
                      </a:r>
                      <a:r>
                        <a:rPr lang="en-US" sz="1950" i="1" dirty="0">
                          <a:solidFill>
                            <a:srgbClr val="181E19"/>
                          </a:solidFill>
                          <a:latin typeface="Be Vietnam Pro" pitchFamily="34" charset="0"/>
                          <a:ea typeface="Be Vietnam Pro" pitchFamily="34" charset="-122"/>
                          <a:cs typeface="Be Vietnam Pro" pitchFamily="34" charset="-120"/>
                        </a:rPr>
                        <a:t>Nhận Vé</a:t>
                      </a:r>
                      <a:endParaRPr lang="en-US" sz="1200" dirty="0"/>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extLst>
                  <a:ext uri="{0D108BD9-81ED-4DB2-BD59-A6C34878D82A}">
                    <a16:rowId xmlns:a16="http://schemas.microsoft.com/office/drawing/2014/main" val="10002"/>
                  </a:ext>
                </a:extLst>
              </a:tr>
              <a:tr h="1219353">
                <a:tc>
                  <a:txBody>
                    <a:bodyPr/>
                    <a:lstStyle/>
                    <a:p>
                      <a:pPr marL="0" indent="0">
                        <a:buNone/>
                      </a:pPr>
                      <a:r>
                        <a:rPr lang="en-US" sz="2550" b="1" dirty="0">
                          <a:solidFill>
                            <a:srgbClr val="A78061"/>
                          </a:solidFill>
                          <a:latin typeface="Playfair Display" pitchFamily="34" charset="0"/>
                          <a:ea typeface="Playfair Display" pitchFamily="34" charset="-122"/>
                          <a:cs typeface="Playfair Display" pitchFamily="34" charset="-120"/>
                        </a:rPr>
                        <a:t>BƯỚC 3</a:t>
                      </a:r>
                      <a:endParaRPr lang="en-US" sz="2550" dirty="0">
                        <a:latin typeface="Playfair Display" charset="0"/>
                        <a:ea typeface="Playfair Display" charset="0"/>
                        <a:cs typeface="Playfair Display"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2100" b="1" dirty="0">
                          <a:solidFill>
                            <a:srgbClr val="181E19"/>
                          </a:solidFill>
                          <a:latin typeface="Be Vietnam Pro" pitchFamily="34" charset="0"/>
                          <a:ea typeface="Be Vietnam Pro" pitchFamily="34" charset="-122"/>
                          <a:cs typeface="Be Vietnam Pro" pitchFamily="34" charset="-120"/>
                        </a:rPr>
                        <a:t>Lưu Vé May Mắn</a:t>
                      </a:r>
                      <a:endParaRPr lang="en-US" sz="2100" dirty="0">
                        <a:latin typeface="Be Vietnam Pro" charset="0"/>
                        <a:ea typeface="Be Vietnam Pro" charset="0"/>
                        <a:cs typeface="Be Vietnam Pro" charset="0"/>
                      </a:endParaRPr>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tc>
                  <a:txBody>
                    <a:bodyPr/>
                    <a:lstStyle/>
                    <a:p>
                      <a:pPr marL="0" indent="0">
                        <a:buNone/>
                      </a:pPr>
                      <a:r>
                        <a:rPr lang="en-US" sz="1950" dirty="0">
                          <a:solidFill>
                            <a:srgbClr val="181E19"/>
                          </a:solidFill>
                          <a:latin typeface="Be Vietnam Pro" pitchFamily="34" charset="0"/>
                          <a:ea typeface="Be Vietnam Pro" pitchFamily="34" charset="-122"/>
                          <a:cs typeface="Be Vietnam Pro" pitchFamily="34" charset="-120"/>
                        </a:rPr>
                        <a:t>Bấm nút </a:t>
                      </a:r>
                      <a:r>
                        <a:rPr lang="en-US" sz="1950" b="1" dirty="0">
                          <a:solidFill>
                            <a:srgbClr val="181E19"/>
                          </a:solidFill>
                          <a:latin typeface="Be Vietnam Pro" pitchFamily="34" charset="0"/>
                          <a:ea typeface="Be Vietnam Pro" pitchFamily="34" charset="-122"/>
                          <a:cs typeface="Be Vietnam Pro" pitchFamily="34" charset="-120"/>
                        </a:rPr>
                        <a:t>“TẢI VÉ (PNG)”</a:t>
                      </a:r>
                      <a:r>
                        <a:rPr lang="en-US" sz="1950" dirty="0">
                          <a:solidFill>
                            <a:srgbClr val="181E19"/>
                          </a:solidFill>
                          <a:latin typeface="Be Vietnam Pro" pitchFamily="34" charset="0"/>
                          <a:ea typeface="Be Vietnam Pro" pitchFamily="34" charset="-122"/>
                          <a:cs typeface="Be Vietnam Pro" pitchFamily="34" charset="-120"/>
                        </a:rPr>
                        <a:t> hoặc chụp màn hình giữ vé để đối chiếu nhận giải</a:t>
                      </a:r>
                      <a:endParaRPr lang="en-US" sz="1200" dirty="0"/>
                    </a:p>
                  </a:txBody>
                  <a:tcPr marL="190195" marR="190195" marT="247802" marB="247802">
                    <a:lnL w="0" cap="flat" cmpd="sng" algn="ctr">
                      <a:solidFill>
                        <a:srgbClr val="181E19"/>
                      </a:solidFill>
                      <a:prstDash val="solid"/>
                      <a:round/>
                      <a:headEnd type="none" w="med" len="med"/>
                      <a:tailEnd type="none" w="med" len="med"/>
                    </a:lnL>
                    <a:lnR w="0" cap="flat" cmpd="sng" algn="ctr">
                      <a:solidFill>
                        <a:srgbClr val="181E19"/>
                      </a:solidFill>
                      <a:prstDash val="solid"/>
                      <a:round/>
                      <a:headEnd type="none" w="med" len="med"/>
                      <a:tailEnd type="none" w="med" len="med"/>
                    </a:lnR>
                    <a:lnT w="9525" cap="flat" cmpd="sng" algn="ctr">
                      <a:solidFill>
                        <a:srgbClr val="DDD0BC"/>
                      </a:solidFill>
                      <a:prstDash val="solid"/>
                      <a:round/>
                      <a:headEnd type="none" w="med" len="med"/>
                      <a:tailEnd type="none" w="med" len="med"/>
                    </a:lnT>
                    <a:lnB w="9525" cap="flat" cmpd="sng" algn="ctr">
                      <a:solidFill>
                        <a:srgbClr val="DDD0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1143000" y="1867205"/>
            <a:ext cx="16002000" cy="1714500"/>
          </a:xfrm>
          <a:prstGeom prst="rect">
            <a:avLst/>
          </a:prstGeom>
          <a:solidFill>
            <a:srgbClr val="181E19"/>
          </a:solidFill>
          <a:ln w="12700">
            <a:solidFill>
              <a:srgbClr val="FFFFFF">
                <a:alpha val="0"/>
              </a:srgbClr>
            </a:solidFill>
            <a:prstDash val="solid"/>
          </a:ln>
        </p:spPr>
      </p:sp>
      <p:sp>
        <p:nvSpPr>
          <p:cNvPr id="3" name="Text 1"/>
          <p:cNvSpPr txBox="1"/>
          <p:nvPr/>
        </p:nvSpPr>
        <p:spPr>
          <a:xfrm>
            <a:off x="1143000" y="457200"/>
            <a:ext cx="16002000" cy="581558"/>
          </a:xfrm>
          <a:prstGeom prst="rect">
            <a:avLst/>
          </a:prstGeom>
          <a:noFill/>
          <a:ln/>
        </p:spPr>
        <p:txBody>
          <a:bodyPr wrap="none" lIns="0" tIns="0" rIns="0" bIns="0" rtlCol="0" anchor="ctr"/>
          <a:lstStyle/>
          <a:p>
            <a:pPr marL="0" indent="0" algn="l">
              <a:buNone/>
            </a:pPr>
            <a:r>
              <a:rPr lang="en-US" sz="4050" b="1" dirty="0">
                <a:solidFill>
                  <a:srgbClr val="181E19"/>
                </a:solidFill>
                <a:latin typeface="Playfair Display" pitchFamily="34" charset="0"/>
                <a:ea typeface="Playfair Display" pitchFamily="34" charset="-122"/>
                <a:cs typeface="Playfair Display" pitchFamily="34" charset="-120"/>
              </a:rPr>
              <a:t>QUY TẮC ĐỊNH DANH CCCD &amp; CHẾ TÀI HỦY VÉ GIAN LẬN</a:t>
            </a:r>
            <a:endParaRPr lang="en-US" sz="4050" dirty="0"/>
          </a:p>
        </p:txBody>
      </p:sp>
      <p:sp>
        <p:nvSpPr>
          <p:cNvPr id="4" name="Text 2"/>
          <p:cNvSpPr txBox="1"/>
          <p:nvPr/>
        </p:nvSpPr>
        <p:spPr>
          <a:xfrm>
            <a:off x="1143000" y="1128370"/>
            <a:ext cx="16002000" cy="362102"/>
          </a:xfrm>
          <a:prstGeom prst="rect">
            <a:avLst/>
          </a:prstGeom>
          <a:noFill/>
          <a:ln/>
        </p:spPr>
        <p:txBody>
          <a:bodyPr wrap="none" lIns="0" tIns="0" rIns="0" bIns="0" rtlCol="0" anchor="ctr"/>
          <a:lstStyle/>
          <a:p>
            <a:pPr marL="0" indent="0" algn="l">
              <a:buNone/>
            </a:pPr>
            <a:r>
              <a:rPr lang="en-US" sz="2100" i="1" dirty="0">
                <a:solidFill>
                  <a:srgbClr val="5D614F"/>
                </a:solidFill>
                <a:latin typeface="Be Vietnam Pro" pitchFamily="34" charset="0"/>
                <a:ea typeface="Be Vietnam Pro" pitchFamily="34" charset="-122"/>
                <a:cs typeface="Be Vietnam Pro" pitchFamily="34" charset="-120"/>
              </a:rPr>
              <a:t>Triệt tiêu 100% tình trạng spam số, mượn số, fake căn cước</a:t>
            </a:r>
            <a:endParaRPr lang="en-US" sz="2100" dirty="0"/>
          </a:p>
        </p:txBody>
      </p:sp>
      <p:sp>
        <p:nvSpPr>
          <p:cNvPr id="5" name="Text 3"/>
          <p:cNvSpPr txBox="1"/>
          <p:nvPr/>
        </p:nvSpPr>
        <p:spPr>
          <a:xfrm>
            <a:off x="1524305" y="2453335"/>
            <a:ext cx="15240305" cy="534010"/>
          </a:xfrm>
          <a:prstGeom prst="rect">
            <a:avLst/>
          </a:prstGeom>
          <a:noFill/>
          <a:ln/>
        </p:spPr>
        <p:txBody>
          <a:bodyPr wrap="none" lIns="0" tIns="0" rIns="0" bIns="0" rtlCol="0" anchor="ctr"/>
          <a:lstStyle/>
          <a:p>
            <a:pPr marL="0" indent="0" algn="l">
              <a:buNone/>
            </a:pPr>
            <a:r>
              <a:rPr lang="en-US" sz="3450" b="1" dirty="0">
                <a:solidFill>
                  <a:srgbClr val="FAF7F0"/>
                </a:solidFill>
                <a:latin typeface="Be Vietnam Pro" pitchFamily="34" charset="0"/>
                <a:ea typeface="Be Vietnam Pro" pitchFamily="34" charset="-122"/>
                <a:cs typeface="Be Vietnam Pro" pitchFamily="34" charset="-120"/>
              </a:rPr>
              <a:t>“1 SỐ CCCD </a:t>
            </a:r>
            <a:r>
              <a:rPr lang="en-US" sz="3450" b="1" dirty="0">
                <a:solidFill>
                  <a:srgbClr val="A78061"/>
                </a:solidFill>
                <a:latin typeface="Be Vietnam Pro" pitchFamily="34" charset="0"/>
                <a:ea typeface="Be Vietnam Pro" pitchFamily="34" charset="-122"/>
                <a:cs typeface="Be Vietnam Pro" pitchFamily="34" charset="-120"/>
              </a:rPr>
              <a:t>=</a:t>
            </a:r>
            <a:r>
              <a:rPr lang="en-US" sz="3450" b="1" dirty="0">
                <a:solidFill>
                  <a:srgbClr val="FAF7F0"/>
                </a:solidFill>
                <a:latin typeface="Be Vietnam Pro" pitchFamily="34" charset="0"/>
                <a:ea typeface="Be Vietnam Pro" pitchFamily="34" charset="-122"/>
                <a:cs typeface="Be Vietnam Pro" pitchFamily="34" charset="-120"/>
              </a:rPr>
              <a:t> 1 CHIẾN BINH KINH DOANH </a:t>
            </a:r>
            <a:r>
              <a:rPr lang="en-US" sz="3450" b="1" dirty="0">
                <a:solidFill>
                  <a:srgbClr val="A78061"/>
                </a:solidFill>
                <a:latin typeface="Be Vietnam Pro" pitchFamily="34" charset="0"/>
                <a:ea typeface="Be Vietnam Pro" pitchFamily="34" charset="-122"/>
                <a:cs typeface="Be Vietnam Pro" pitchFamily="34" charset="-120"/>
              </a:rPr>
              <a:t>=</a:t>
            </a:r>
            <a:r>
              <a:rPr lang="en-US" sz="3450" b="1" dirty="0">
                <a:solidFill>
                  <a:srgbClr val="FAF7F0"/>
                </a:solidFill>
                <a:latin typeface="Be Vietnam Pro" pitchFamily="34" charset="0"/>
                <a:ea typeface="Be Vietnam Pro" pitchFamily="34" charset="-122"/>
                <a:cs typeface="Be Vietnam Pro" pitchFamily="34" charset="-120"/>
              </a:rPr>
              <a:t> 1 MÃ VÉ DUY NHẤT”</a:t>
            </a:r>
            <a:endParaRPr lang="en-US" sz="3450" dirty="0"/>
          </a:p>
        </p:txBody>
      </p:sp>
      <p:sp>
        <p:nvSpPr>
          <p:cNvPr id="6" name="Text 4"/>
          <p:cNvSpPr txBox="1"/>
          <p:nvPr/>
        </p:nvSpPr>
        <p:spPr>
          <a:xfrm>
            <a:off x="1524305" y="3055925"/>
            <a:ext cx="15240305" cy="286207"/>
          </a:xfrm>
          <a:prstGeom prst="rect">
            <a:avLst/>
          </a:prstGeom>
          <a:noFill/>
          <a:ln/>
        </p:spPr>
        <p:txBody>
          <a:bodyPr wrap="none" lIns="0" tIns="0" rIns="0" bIns="0" rtlCol="0" anchor="ctr"/>
          <a:lstStyle/>
          <a:p>
            <a:pPr marL="0" indent="0" algn="l">
              <a:buNone/>
            </a:pPr>
            <a:r>
              <a:rPr lang="en-US" sz="1800" i="1" dirty="0">
                <a:solidFill>
                  <a:srgbClr val="C9BBA6"/>
                </a:solidFill>
                <a:latin typeface="Be Vietnam Pro" pitchFamily="34" charset="0"/>
                <a:ea typeface="Be Vietnam Pro" pitchFamily="34" charset="-122"/>
                <a:cs typeface="Be Vietnam Pro" pitchFamily="34" charset="-120"/>
              </a:rPr>
              <a:t>(Bất kỳ trường hợp phát hiện gian lận thông tin sẽ bị tước giải thưởng ngay lập tức)</a:t>
            </a:r>
            <a:endParaRPr lang="en-US" sz="1800" dirty="0"/>
          </a:p>
        </p:txBody>
      </p:sp>
      <p:sp>
        <p:nvSpPr>
          <p:cNvPr id="7" name="Shape 5"/>
          <p:cNvSpPr/>
          <p:nvPr/>
        </p:nvSpPr>
        <p:spPr>
          <a:xfrm>
            <a:off x="1524305" y="2018995"/>
            <a:ext cx="1609344" cy="323698"/>
          </a:xfrm>
          <a:prstGeom prst="roundRect">
            <a:avLst>
              <a:gd name="adj" fmla="val 8757"/>
            </a:avLst>
          </a:prstGeom>
          <a:solidFill>
            <a:srgbClr val="DF192A"/>
          </a:solidFill>
          <a:ln w="12700">
            <a:solidFill>
              <a:srgbClr val="FFFFFF">
                <a:alpha val="0"/>
              </a:srgbClr>
            </a:solidFill>
            <a:prstDash val="solid"/>
          </a:ln>
        </p:spPr>
      </p:sp>
      <p:sp>
        <p:nvSpPr>
          <p:cNvPr id="8" name="Text 6"/>
          <p:cNvSpPr txBox="1"/>
          <p:nvPr/>
        </p:nvSpPr>
        <p:spPr>
          <a:xfrm>
            <a:off x="1524305" y="2018995"/>
            <a:ext cx="1610258" cy="324612"/>
          </a:xfrm>
          <a:prstGeom prst="rect">
            <a:avLst/>
          </a:prstGeom>
          <a:solidFill>
            <a:srgbClr val="FFFFFF">
              <a:alpha val="0"/>
            </a:srgbClr>
          </a:solidFill>
          <a:ln>
            <a:solidFill>
              <a:srgbClr val="FFFFFF">
                <a:alpha val="0"/>
              </a:srgbClr>
            </a:solidFill>
          </a:ln>
        </p:spPr>
        <p:txBody>
          <a:bodyPr wrap="none" lIns="139700" tIns="63500" rIns="139700" bIns="63500" rtlCol="0" anchor="ctr"/>
          <a:lstStyle/>
          <a:p>
            <a:pPr marL="0" indent="0" algn="l">
              <a:lnSpc>
                <a:spcPct val="120000"/>
              </a:lnSpc>
              <a:buNone/>
            </a:pPr>
            <a:r>
              <a:rPr lang="en-US" sz="1350" b="1" kern="0" spc="243" dirty="0">
                <a:solidFill>
                  <a:srgbClr val="FAF7F0"/>
                </a:solidFill>
                <a:latin typeface="JetBrains Mono" pitchFamily="34" charset="0"/>
                <a:ea typeface="JetBrains Mono" pitchFamily="34" charset="-122"/>
                <a:cs typeface="JetBrains Mono" pitchFamily="34" charset="-120"/>
              </a:rPr>
              <a:t>NGUYÊN TẮC</a:t>
            </a:r>
            <a:endParaRPr lang="en-US" sz="1350" dirty="0"/>
          </a:p>
        </p:txBody>
      </p:sp>
      <p:pic>
        <p:nvPicPr>
          <p:cNvPr id="9" name="Image 0" descr="gen-dedup-c89b92e586e0413804ade9b4bf161128.png"/>
          <p:cNvPicPr>
            <a:picLocks noChangeAspect="1"/>
          </p:cNvPicPr>
          <p:nvPr/>
        </p:nvPicPr>
        <p:blipFill>
          <a:blip r:embed="rId3"/>
          <a:srcRect l="-2" r="-2"/>
          <a:stretch/>
        </p:blipFill>
        <p:spPr>
          <a:xfrm>
            <a:off x="1143000" y="3810305"/>
            <a:ext cx="16002000" cy="6133795"/>
          </a:xfrm>
          <a:prstGeom prst="rect">
            <a:avLst/>
          </a:prstGeom>
        </p:spPr>
      </p:pic>
      <p:sp>
        <p:nvSpPr>
          <p:cNvPr id="10" name="Shape 7"/>
          <p:cNvSpPr/>
          <p:nvPr/>
        </p:nvSpPr>
        <p:spPr>
          <a:xfrm>
            <a:off x="1238098" y="3810305"/>
            <a:ext cx="3810305" cy="533095"/>
          </a:xfrm>
          <a:prstGeom prst="roundRect">
            <a:avLst>
              <a:gd name="adj" fmla="val 7204"/>
            </a:avLst>
          </a:prstGeom>
          <a:solidFill>
            <a:srgbClr val="5D614F"/>
          </a:solidFill>
          <a:ln w="12700">
            <a:solidFill>
              <a:srgbClr val="FFFFFF">
                <a:alpha val="0"/>
              </a:srgbClr>
            </a:solidFill>
            <a:prstDash val="solid"/>
          </a:ln>
        </p:spPr>
      </p:sp>
      <p:sp>
        <p:nvSpPr>
          <p:cNvPr id="11" name="Text 8"/>
          <p:cNvSpPr txBox="1"/>
          <p:nvPr/>
        </p:nvSpPr>
        <p:spPr>
          <a:xfrm>
            <a:off x="1238098" y="3810305"/>
            <a:ext cx="3810305" cy="5340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800" b="1" dirty="0">
                <a:solidFill>
                  <a:srgbClr val="FAF7F0"/>
                </a:solidFill>
                <a:latin typeface="Be Vietnam Pro" pitchFamily="34" charset="0"/>
                <a:ea typeface="Be Vietnam Pro" pitchFamily="34" charset="-122"/>
                <a:cs typeface="Be Vietnam Pro" pitchFamily="34" charset="-120"/>
              </a:rPr>
              <a:t>MC Sân Khấu</a:t>
            </a:r>
            <a:endParaRPr lang="en-US" sz="1800" dirty="0"/>
          </a:p>
        </p:txBody>
      </p:sp>
      <p:sp>
        <p:nvSpPr>
          <p:cNvPr id="12" name="Shape 9"/>
          <p:cNvSpPr/>
          <p:nvPr/>
        </p:nvSpPr>
        <p:spPr>
          <a:xfrm>
            <a:off x="5238598" y="3810305"/>
            <a:ext cx="3810305" cy="533095"/>
          </a:xfrm>
          <a:prstGeom prst="roundRect">
            <a:avLst>
              <a:gd name="adj" fmla="val 7204"/>
            </a:avLst>
          </a:prstGeom>
          <a:solidFill>
            <a:srgbClr val="A78061"/>
          </a:solidFill>
          <a:ln w="12700">
            <a:solidFill>
              <a:srgbClr val="FFFFFF">
                <a:alpha val="0"/>
              </a:srgbClr>
            </a:solidFill>
            <a:prstDash val="solid"/>
          </a:ln>
        </p:spPr>
      </p:sp>
      <p:sp>
        <p:nvSpPr>
          <p:cNvPr id="13" name="Text 10"/>
          <p:cNvSpPr txBox="1"/>
          <p:nvPr/>
        </p:nvSpPr>
        <p:spPr>
          <a:xfrm>
            <a:off x="5238598" y="3810305"/>
            <a:ext cx="3810305" cy="5340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800" b="1" dirty="0">
                <a:solidFill>
                  <a:srgbClr val="FAF7F0"/>
                </a:solidFill>
                <a:latin typeface="Be Vietnam Pro" pitchFamily="34" charset="0"/>
                <a:ea typeface="Be Vietnam Pro" pitchFamily="34" charset="-122"/>
                <a:cs typeface="Be Vietnam Pro" pitchFamily="34" charset="-120"/>
              </a:rPr>
              <a:t>Người Trúng Giải</a:t>
            </a:r>
            <a:endParaRPr lang="en-US" sz="1800" dirty="0"/>
          </a:p>
        </p:txBody>
      </p:sp>
      <p:sp>
        <p:nvSpPr>
          <p:cNvPr id="14" name="Shape 11"/>
          <p:cNvSpPr/>
          <p:nvPr/>
        </p:nvSpPr>
        <p:spPr>
          <a:xfrm>
            <a:off x="9239098" y="3810305"/>
            <a:ext cx="3810305" cy="533095"/>
          </a:xfrm>
          <a:prstGeom prst="roundRect">
            <a:avLst>
              <a:gd name="adj" fmla="val 7204"/>
            </a:avLst>
          </a:prstGeom>
          <a:solidFill>
            <a:srgbClr val="181E19"/>
          </a:solidFill>
          <a:ln w="12700">
            <a:solidFill>
              <a:srgbClr val="FFFFFF">
                <a:alpha val="0"/>
              </a:srgbClr>
            </a:solidFill>
            <a:prstDash val="solid"/>
          </a:ln>
        </p:spPr>
      </p:sp>
      <p:sp>
        <p:nvSpPr>
          <p:cNvPr id="15" name="Text 12"/>
          <p:cNvSpPr txBox="1"/>
          <p:nvPr/>
        </p:nvSpPr>
        <p:spPr>
          <a:xfrm>
            <a:off x="9239098" y="3810305"/>
            <a:ext cx="3810305" cy="5340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800" b="1" dirty="0">
                <a:solidFill>
                  <a:srgbClr val="FAF7F0"/>
                </a:solidFill>
                <a:latin typeface="Be Vietnam Pro" pitchFamily="34" charset="0"/>
                <a:ea typeface="Be Vietnam Pro" pitchFamily="34" charset="-122"/>
                <a:cs typeface="Be Vietnam Pro" pitchFamily="34" charset="-120"/>
              </a:rPr>
              <a:t>Bàn Đối Soát Kỹ Thuật (BTC)</a:t>
            </a:r>
            <a:endParaRPr lang="en-US" sz="1800" dirty="0"/>
          </a:p>
        </p:txBody>
      </p:sp>
      <p:sp>
        <p:nvSpPr>
          <p:cNvPr id="16" name="Shape 13"/>
          <p:cNvSpPr/>
          <p:nvPr/>
        </p:nvSpPr>
        <p:spPr>
          <a:xfrm>
            <a:off x="13239598" y="3810305"/>
            <a:ext cx="3810305" cy="533095"/>
          </a:xfrm>
          <a:prstGeom prst="roundRect">
            <a:avLst>
              <a:gd name="adj" fmla="val 7204"/>
            </a:avLst>
          </a:prstGeom>
          <a:solidFill>
            <a:srgbClr val="3A4239"/>
          </a:solidFill>
          <a:ln w="12700">
            <a:solidFill>
              <a:srgbClr val="FFFFFF">
                <a:alpha val="0"/>
              </a:srgbClr>
            </a:solidFill>
            <a:prstDash val="solid"/>
          </a:ln>
        </p:spPr>
      </p:sp>
      <p:sp>
        <p:nvSpPr>
          <p:cNvPr id="17" name="Text 14"/>
          <p:cNvSpPr txBox="1"/>
          <p:nvPr/>
        </p:nvSpPr>
        <p:spPr>
          <a:xfrm>
            <a:off x="13239598" y="3810305"/>
            <a:ext cx="3810305" cy="5340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800" b="1" dirty="0">
                <a:solidFill>
                  <a:srgbClr val="FAF7F0"/>
                </a:solidFill>
                <a:latin typeface="Be Vietnam Pro" pitchFamily="34" charset="0"/>
                <a:ea typeface="Be Vietnam Pro" pitchFamily="34" charset="-122"/>
                <a:cs typeface="Be Vietnam Pro" pitchFamily="34" charset="-120"/>
              </a:rPr>
              <a:t>Hệ Thống Admin Cockpit</a:t>
            </a:r>
            <a:endParaRPr lang="en-US" sz="1800" dirty="0"/>
          </a:p>
        </p:txBody>
      </p:sp>
      <p:sp>
        <p:nvSpPr>
          <p:cNvPr id="18" name="Text 15"/>
          <p:cNvSpPr txBox="1"/>
          <p:nvPr/>
        </p:nvSpPr>
        <p:spPr>
          <a:xfrm>
            <a:off x="2948940" y="4496105"/>
            <a:ext cx="4389120" cy="277063"/>
          </a:xfrm>
          <a:prstGeom prst="rect">
            <a:avLst/>
          </a:prstGeom>
          <a:noFill/>
          <a:ln/>
        </p:spPr>
        <p:txBody>
          <a:bodyPr wrap="none" lIns="0" tIns="0" rIns="0" bIns="0" rtlCol="0" anchor="ctr"/>
          <a:lstStyle/>
          <a:p>
            <a:pPr marL="0" indent="0" algn="ctr">
              <a:buNone/>
            </a:pPr>
            <a:r>
              <a:rPr lang="en-US" sz="1650" dirty="0">
                <a:solidFill>
                  <a:srgbClr val="181E19"/>
                </a:solidFill>
                <a:latin typeface="Be Vietnam Pro" pitchFamily="34" charset="0"/>
                <a:ea typeface="Be Vietnam Pro" pitchFamily="34" charset="-122"/>
                <a:cs typeface="Be Vietnam Pro" pitchFamily="34" charset="-120"/>
              </a:rPr>
              <a:t>1. Xướng tên số may mắn (VD: #168)</a:t>
            </a:r>
            <a:endParaRPr lang="en-US" sz="1650" dirty="0"/>
          </a:p>
        </p:txBody>
      </p:sp>
      <p:sp>
        <p:nvSpPr>
          <p:cNvPr id="19" name="Text 16"/>
          <p:cNvSpPr txBox="1"/>
          <p:nvPr/>
        </p:nvSpPr>
        <p:spPr>
          <a:xfrm>
            <a:off x="7239305" y="5048402"/>
            <a:ext cx="3810305" cy="553212"/>
          </a:xfrm>
          <a:prstGeom prst="rect">
            <a:avLst/>
          </a:prstGeom>
          <a:noFill/>
          <a:ln/>
        </p:spPr>
        <p:txBody>
          <a:bodyPr wrap="square" lIns="0" tIns="0" rIns="0" bIns="0" rtlCol="0" anchor="ctr"/>
          <a:lstStyle/>
          <a:p>
            <a:pPr marL="0" indent="0" algn="ctr">
              <a:lnSpc>
                <a:spcPct val="121000"/>
              </a:lnSpc>
              <a:buNone/>
            </a:pPr>
            <a:r>
              <a:rPr lang="en-US" sz="1800" dirty="0">
                <a:solidFill>
                  <a:srgbClr val="181E19"/>
                </a:solidFill>
                <a:latin typeface="Be Vietnam Pro" pitchFamily="34" charset="0"/>
                <a:ea typeface="Be Vietnam Pro" pitchFamily="34" charset="-122"/>
                <a:cs typeface="Be Vietnam Pro" pitchFamily="34" charset="-120"/>
              </a:rPr>
              <a:t>2. Xuất trình: Điện thoại có Vé + Bản gốc/VNeID CCCD</a:t>
            </a:r>
            <a:endParaRPr lang="en-US" sz="1800" dirty="0"/>
          </a:p>
        </p:txBody>
      </p:sp>
      <p:sp>
        <p:nvSpPr>
          <p:cNvPr id="20" name="Text 17"/>
          <p:cNvSpPr txBox="1"/>
          <p:nvPr/>
        </p:nvSpPr>
        <p:spPr>
          <a:xfrm>
            <a:off x="11239805" y="5848502"/>
            <a:ext cx="3810305" cy="553212"/>
          </a:xfrm>
          <a:prstGeom prst="rect">
            <a:avLst/>
          </a:prstGeom>
          <a:noFill/>
          <a:ln/>
        </p:spPr>
        <p:txBody>
          <a:bodyPr wrap="square" lIns="0" tIns="0" rIns="0" bIns="0" rtlCol="0" anchor="ctr"/>
          <a:lstStyle/>
          <a:p>
            <a:pPr marL="0" indent="0" algn="ctr">
              <a:lnSpc>
                <a:spcPct val="121000"/>
              </a:lnSpc>
              <a:buNone/>
            </a:pPr>
            <a:r>
              <a:rPr lang="en-US" sz="1800" dirty="0">
                <a:solidFill>
                  <a:srgbClr val="181E19"/>
                </a:solidFill>
                <a:latin typeface="Be Vietnam Pro" pitchFamily="34" charset="0"/>
                <a:ea typeface="Be Vietnam Pro" pitchFamily="34" charset="-122"/>
                <a:cs typeface="Be Vietnam Pro" pitchFamily="34" charset="-120"/>
              </a:rPr>
              <a:t>3. Tra cứu CCCD hoặc SĐT hoặc Quét QR trên vé</a:t>
            </a:r>
            <a:endParaRPr lang="en-US" sz="1800" dirty="0"/>
          </a:p>
        </p:txBody>
      </p:sp>
      <p:sp>
        <p:nvSpPr>
          <p:cNvPr id="21" name="Text 18"/>
          <p:cNvSpPr txBox="1"/>
          <p:nvPr/>
        </p:nvSpPr>
        <p:spPr>
          <a:xfrm>
            <a:off x="1371600" y="6687007"/>
            <a:ext cx="6792163" cy="286207"/>
          </a:xfrm>
          <a:prstGeom prst="rect">
            <a:avLst/>
          </a:prstGeom>
          <a:noFill/>
          <a:ln/>
        </p:spPr>
        <p:txBody>
          <a:bodyPr wrap="none" lIns="0" tIns="0" rIns="0" bIns="0" rtlCol="0" anchor="ctr"/>
          <a:lstStyle/>
          <a:p>
            <a:pPr marL="0" indent="0" algn="l">
              <a:buNone/>
            </a:pPr>
            <a:r>
              <a:rPr lang="en-US" sz="1650" b="1" dirty="0">
                <a:solidFill>
                  <a:srgbClr val="3D7A4F"/>
                </a:solidFill>
                <a:latin typeface="JetBrains Mono" pitchFamily="34" charset="0"/>
                <a:ea typeface="JetBrains Mono" pitchFamily="34" charset="-122"/>
                <a:cs typeface="JetBrains Mono" pitchFamily="34" charset="-120"/>
              </a:rPr>
              <a:t>[alt] Thông tin trùng khớp 100% &amp; Trạng thái CONFIRMED</a:t>
            </a:r>
            <a:endParaRPr lang="en-US" sz="1650" dirty="0"/>
          </a:p>
        </p:txBody>
      </p:sp>
      <p:sp>
        <p:nvSpPr>
          <p:cNvPr id="22" name="Text 19"/>
          <p:cNvSpPr txBox="1"/>
          <p:nvPr/>
        </p:nvSpPr>
        <p:spPr>
          <a:xfrm>
            <a:off x="11239805" y="6991502"/>
            <a:ext cx="3810305" cy="553212"/>
          </a:xfrm>
          <a:prstGeom prst="rect">
            <a:avLst/>
          </a:prstGeom>
          <a:noFill/>
          <a:ln/>
        </p:spPr>
        <p:txBody>
          <a:bodyPr wrap="square" lIns="0" tIns="0" rIns="0" bIns="0" rtlCol="0" anchor="ctr"/>
          <a:lstStyle/>
          <a:p>
            <a:pPr marL="0" indent="0" algn="ctr">
              <a:lnSpc>
                <a:spcPct val="121000"/>
              </a:lnSpc>
              <a:buNone/>
            </a:pPr>
            <a:r>
              <a:rPr lang="en-US" sz="1800" b="1" dirty="0">
                <a:solidFill>
                  <a:srgbClr val="3D7A4F"/>
                </a:solidFill>
                <a:latin typeface="Be Vietnam Pro" pitchFamily="34" charset="0"/>
                <a:ea typeface="Be Vietnam Pro" pitchFamily="34" charset="-122"/>
                <a:cs typeface="Be Vietnam Pro" pitchFamily="34" charset="-120"/>
              </a:rPr>
              <a:t>4. HỢP LỆ (Dấu xanh, mã HMAC-SHA256 khớp)</a:t>
            </a:r>
            <a:endParaRPr lang="en-US" sz="1800" dirty="0"/>
          </a:p>
        </p:txBody>
      </p:sp>
      <p:sp>
        <p:nvSpPr>
          <p:cNvPr id="23" name="Text 20"/>
          <p:cNvSpPr txBox="1"/>
          <p:nvPr/>
        </p:nvSpPr>
        <p:spPr>
          <a:xfrm>
            <a:off x="3238805" y="7733995"/>
            <a:ext cx="7810805" cy="277063"/>
          </a:xfrm>
          <a:prstGeom prst="rect">
            <a:avLst/>
          </a:prstGeom>
          <a:noFill/>
          <a:ln/>
        </p:spPr>
        <p:txBody>
          <a:bodyPr wrap="none" lIns="0" tIns="0" rIns="0" bIns="0" rtlCol="0" anchor="ctr"/>
          <a:lstStyle/>
          <a:p>
            <a:pPr marL="0" indent="0" algn="ctr">
              <a:buNone/>
            </a:pPr>
            <a:r>
              <a:rPr lang="en-US" sz="1800" b="1" dirty="0">
                <a:solidFill>
                  <a:srgbClr val="3D7A4F"/>
                </a:solidFill>
                <a:latin typeface="Be Vietnam Pro" pitchFamily="34" charset="0"/>
                <a:ea typeface="Be Vietnam Pro" pitchFamily="34" charset="-122"/>
                <a:cs typeface="Be Vietnam Pro" pitchFamily="34" charset="-120"/>
              </a:rPr>
              <a:t>5. XÁC NHẬN HỢP LỆ → TIẾN HÀNH TRAO GIẢI</a:t>
            </a:r>
            <a:endParaRPr lang="en-US" sz="1800" dirty="0"/>
          </a:p>
        </p:txBody>
      </p:sp>
      <p:sp>
        <p:nvSpPr>
          <p:cNvPr id="24" name="Text 21"/>
          <p:cNvSpPr txBox="1"/>
          <p:nvPr/>
        </p:nvSpPr>
        <p:spPr>
          <a:xfrm>
            <a:off x="1371600" y="8305495"/>
            <a:ext cx="7296912" cy="286207"/>
          </a:xfrm>
          <a:prstGeom prst="rect">
            <a:avLst/>
          </a:prstGeom>
          <a:noFill/>
          <a:ln/>
        </p:spPr>
        <p:txBody>
          <a:bodyPr wrap="none" lIns="0" tIns="0" rIns="0" bIns="0" rtlCol="0" anchor="ctr"/>
          <a:lstStyle/>
          <a:p>
            <a:pPr marL="0" indent="0" algn="l">
              <a:buNone/>
            </a:pPr>
            <a:r>
              <a:rPr lang="en-US" sz="1650" b="1" dirty="0">
                <a:solidFill>
                  <a:srgbClr val="DF192A"/>
                </a:solidFill>
                <a:latin typeface="JetBrains Mono" pitchFamily="34" charset="0"/>
                <a:ea typeface="JetBrains Mono" pitchFamily="34" charset="-122"/>
                <a:cs typeface="JetBrains Mono" pitchFamily="34" charset="-120"/>
              </a:rPr>
              <a:t>[else] Sai lệch CCCD / Không chính chủ / Cảnh báo REPLAYED</a:t>
            </a:r>
            <a:endParaRPr lang="en-US" sz="1650" dirty="0"/>
          </a:p>
        </p:txBody>
      </p:sp>
      <p:sp>
        <p:nvSpPr>
          <p:cNvPr id="25" name="Text 22"/>
          <p:cNvSpPr txBox="1"/>
          <p:nvPr/>
        </p:nvSpPr>
        <p:spPr>
          <a:xfrm>
            <a:off x="11239805" y="8572500"/>
            <a:ext cx="3810305" cy="553212"/>
          </a:xfrm>
          <a:prstGeom prst="rect">
            <a:avLst/>
          </a:prstGeom>
          <a:noFill/>
          <a:ln/>
        </p:spPr>
        <p:txBody>
          <a:bodyPr wrap="square" lIns="0" tIns="0" rIns="0" bIns="0" rtlCol="0" anchor="ctr"/>
          <a:lstStyle/>
          <a:p>
            <a:pPr marL="0" indent="0" algn="ctr">
              <a:lnSpc>
                <a:spcPct val="121000"/>
              </a:lnSpc>
              <a:buNone/>
            </a:pPr>
            <a:r>
              <a:rPr lang="en-US" sz="1800" b="1" dirty="0">
                <a:solidFill>
                  <a:srgbClr val="DF192A"/>
                </a:solidFill>
                <a:latin typeface="Be Vietnam Pro" pitchFamily="34" charset="0"/>
                <a:ea typeface="Be Vietnam Pro" pitchFamily="34" charset="-122"/>
                <a:cs typeface="Be Vietnam Pro" pitchFamily="34" charset="-120"/>
              </a:rPr>
              <a:t>6. GIAN LẬN / SAI LỆCH THÔNG TIN</a:t>
            </a:r>
            <a:endParaRPr lang="en-US" sz="1800" dirty="0"/>
          </a:p>
        </p:txBody>
      </p:sp>
      <p:sp>
        <p:nvSpPr>
          <p:cNvPr id="26" name="Text 23"/>
          <p:cNvSpPr txBox="1"/>
          <p:nvPr/>
        </p:nvSpPr>
        <p:spPr>
          <a:xfrm>
            <a:off x="3238805" y="9315907"/>
            <a:ext cx="7810805" cy="277063"/>
          </a:xfrm>
          <a:prstGeom prst="rect">
            <a:avLst/>
          </a:prstGeom>
          <a:noFill/>
          <a:ln/>
        </p:spPr>
        <p:txBody>
          <a:bodyPr wrap="none" lIns="0" tIns="0" rIns="0" bIns="0" rtlCol="0" anchor="ctr"/>
          <a:lstStyle/>
          <a:p>
            <a:pPr marL="0" indent="0" algn="ctr">
              <a:buNone/>
            </a:pPr>
            <a:r>
              <a:rPr lang="en-US" sz="1800" b="1" dirty="0">
                <a:solidFill>
                  <a:srgbClr val="DF192A"/>
                </a:solidFill>
                <a:latin typeface="Be Vietnam Pro" pitchFamily="34" charset="0"/>
                <a:ea typeface="Be Vietnam Pro" pitchFamily="34" charset="-122"/>
                <a:cs typeface="Be Vietnam Pro" pitchFamily="34" charset="-120"/>
              </a:rPr>
              <a:t>7. TƯỚC GIẢI THƯỞNG → QUAY LẠI MÃ MỚI</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181E19"/>
        </a:solidFill>
        <a:effectLst/>
      </p:bgPr>
    </p:bg>
    <p:spTree>
      <p:nvGrpSpPr>
        <p:cNvPr id="1" name=""/>
        <p:cNvGrpSpPr/>
        <p:nvPr/>
      </p:nvGrpSpPr>
      <p:grpSpPr>
        <a:xfrm>
          <a:off x="0" y="0"/>
          <a:ext cx="0" cy="0"/>
          <a:chOff x="0" y="0"/>
          <a:chExt cx="0" cy="0"/>
        </a:xfrm>
      </p:grpSpPr>
      <p:sp>
        <p:nvSpPr>
          <p:cNvPr id="2" name="Shape 0"/>
          <p:cNvSpPr/>
          <p:nvPr/>
        </p:nvSpPr>
        <p:spPr>
          <a:xfrm>
            <a:off x="12382805" y="4000500"/>
            <a:ext cx="8572500" cy="8572500"/>
          </a:xfrm>
          <a:prstGeom prst="ellipse">
            <a:avLst/>
          </a:prstGeom>
          <a:solidFill>
            <a:srgbClr val="5D614F">
              <a:alpha val="35000"/>
            </a:srgbClr>
          </a:solidFill>
          <a:ln w="12700">
            <a:solidFill>
              <a:srgbClr val="FFFFFF">
                <a:alpha val="0"/>
              </a:srgbClr>
            </a:solidFill>
            <a:prstDash val="solid"/>
          </a:ln>
        </p:spPr>
      </p:sp>
      <p:sp>
        <p:nvSpPr>
          <p:cNvPr id="3" name="Shape 1"/>
          <p:cNvSpPr/>
          <p:nvPr/>
        </p:nvSpPr>
        <p:spPr>
          <a:xfrm>
            <a:off x="11620195" y="3238805"/>
            <a:ext cx="10096805" cy="10096805"/>
          </a:xfrm>
          <a:prstGeom prst="ellipse">
            <a:avLst/>
          </a:prstGeom>
          <a:noFill/>
          <a:ln w="25400">
            <a:solidFill>
              <a:srgbClr val="A78061">
                <a:alpha val="45000"/>
              </a:srgbClr>
            </a:solidFill>
            <a:prstDash val="solid"/>
          </a:ln>
        </p:spPr>
      </p:sp>
      <p:pic>
        <p:nvPicPr>
          <p:cNvPr id="4" name="Image 0" descr="gen-dedup-95380f6978d0729d10c6645744eb7e44.png"/>
          <p:cNvPicPr>
            <a:picLocks noChangeAspect="1"/>
          </p:cNvPicPr>
          <p:nvPr/>
        </p:nvPicPr>
        <p:blipFill>
          <a:blip r:embed="rId3"/>
          <a:srcRect t="-400" b="-400"/>
          <a:stretch/>
        </p:blipFill>
        <p:spPr>
          <a:xfrm>
            <a:off x="1143000" y="7448702"/>
            <a:ext cx="16002000" cy="19202"/>
          </a:xfrm>
          <a:prstGeom prst="rect">
            <a:avLst/>
          </a:prstGeom>
        </p:spPr>
      </p:pic>
      <p:sp>
        <p:nvSpPr>
          <p:cNvPr id="5" name="Text 2"/>
          <p:cNvSpPr txBox="1"/>
          <p:nvPr/>
        </p:nvSpPr>
        <p:spPr>
          <a:xfrm>
            <a:off x="1143000" y="952805"/>
            <a:ext cx="16002000" cy="762610"/>
          </a:xfrm>
          <a:prstGeom prst="rect">
            <a:avLst/>
          </a:prstGeom>
          <a:noFill/>
          <a:ln/>
        </p:spPr>
        <p:txBody>
          <a:bodyPr wrap="none" lIns="0" tIns="0" rIns="0" bIns="0" rtlCol="0" anchor="ctr"/>
          <a:lstStyle/>
          <a:p>
            <a:pPr marL="0" indent="0" algn="l">
              <a:buNone/>
            </a:pPr>
            <a:r>
              <a:rPr lang="en-US" sz="5400" b="1" dirty="0">
                <a:solidFill>
                  <a:srgbClr val="FAF7F0"/>
                </a:solidFill>
                <a:latin typeface="Playfair Display" pitchFamily="34" charset="0"/>
                <a:ea typeface="Playfair Display" pitchFamily="34" charset="-122"/>
                <a:cs typeface="Playfair Display" pitchFamily="34" charset="-120"/>
              </a:rPr>
              <a:t>HỖ TRỢ KỸ THUẬT ON-SITE NGÀY SỰ KIỆN</a:t>
            </a:r>
            <a:endParaRPr lang="en-US" sz="5400" dirty="0"/>
          </a:p>
        </p:txBody>
      </p:sp>
      <p:sp>
        <p:nvSpPr>
          <p:cNvPr id="6" name="Text 3"/>
          <p:cNvSpPr txBox="1"/>
          <p:nvPr/>
        </p:nvSpPr>
        <p:spPr>
          <a:xfrm>
            <a:off x="1143000" y="1954073"/>
            <a:ext cx="16002000" cy="381305"/>
          </a:xfrm>
          <a:prstGeom prst="rect">
            <a:avLst/>
          </a:prstGeom>
          <a:noFill/>
          <a:ln/>
        </p:spPr>
        <p:txBody>
          <a:bodyPr wrap="none" lIns="0" tIns="0" rIns="0" bIns="0" rtlCol="0" anchor="ctr"/>
          <a:lstStyle/>
          <a:p>
            <a:pPr marL="0" indent="0" algn="l">
              <a:buNone/>
            </a:pPr>
            <a:r>
              <a:rPr lang="en-US" sz="2400" b="1" dirty="0">
                <a:solidFill>
                  <a:srgbClr val="A78061"/>
                </a:solidFill>
                <a:latin typeface="Be Vietnam Pro" pitchFamily="34" charset="0"/>
                <a:ea typeface="Be Vietnam Pro" pitchFamily="34" charset="-122"/>
                <a:cs typeface="Be Vietnam Pro" pitchFamily="34" charset="-120"/>
              </a:rPr>
              <a:t>Hotline Kỹ Thuật Trực Chiến 1990 Agency:</a:t>
            </a:r>
            <a:endParaRPr lang="en-US" sz="2400" dirty="0"/>
          </a:p>
        </p:txBody>
      </p:sp>
      <p:sp>
        <p:nvSpPr>
          <p:cNvPr id="7" name="Text 4"/>
          <p:cNvSpPr txBox="1"/>
          <p:nvPr/>
        </p:nvSpPr>
        <p:spPr>
          <a:xfrm>
            <a:off x="1143000" y="3238805"/>
            <a:ext cx="13335610" cy="286207"/>
          </a:xfrm>
          <a:prstGeom prst="rect">
            <a:avLst/>
          </a:prstGeom>
          <a:noFill/>
          <a:ln/>
        </p:spPr>
        <p:txBody>
          <a:bodyPr wrap="none" lIns="0" tIns="0" rIns="0" bIns="0" rtlCol="0" anchor="ctr"/>
          <a:lstStyle/>
          <a:p>
            <a:pPr marL="0" indent="0" algn="l">
              <a:buNone/>
            </a:pPr>
            <a:r>
              <a:rPr lang="en-US" sz="1800" b="1" kern="0" spc="252" dirty="0">
                <a:solidFill>
                  <a:srgbClr val="C9BBA6"/>
                </a:solidFill>
                <a:latin typeface="Be Vietnam Pro" pitchFamily="34" charset="0"/>
                <a:ea typeface="Be Vietnam Pro" pitchFamily="34" charset="-122"/>
                <a:cs typeface="Be Vietnam Pro" pitchFamily="34" charset="-120"/>
              </a:rPr>
              <a:t>Đầu mối phụ trách kỹ thuật</a:t>
            </a:r>
            <a:endParaRPr lang="en-US" sz="1800" dirty="0"/>
          </a:p>
        </p:txBody>
      </p:sp>
      <p:sp>
        <p:nvSpPr>
          <p:cNvPr id="8" name="Text 5"/>
          <p:cNvSpPr txBox="1"/>
          <p:nvPr/>
        </p:nvSpPr>
        <p:spPr>
          <a:xfrm>
            <a:off x="1143000" y="3657600"/>
            <a:ext cx="13335610" cy="648310"/>
          </a:xfrm>
          <a:prstGeom prst="rect">
            <a:avLst/>
          </a:prstGeom>
          <a:noFill/>
          <a:ln/>
        </p:spPr>
        <p:txBody>
          <a:bodyPr wrap="none" lIns="0" tIns="0" rIns="0" bIns="0" rtlCol="0" anchor="ctr"/>
          <a:lstStyle/>
          <a:p>
            <a:pPr marL="0" indent="0" algn="l">
              <a:buNone/>
            </a:pPr>
            <a:r>
              <a:rPr lang="en-US" sz="4200" b="1" dirty="0">
                <a:solidFill>
                  <a:srgbClr val="FAF7F0"/>
                </a:solidFill>
                <a:latin typeface="Be Vietnam Pro" pitchFamily="34" charset="0"/>
                <a:ea typeface="Be Vietnam Pro" pitchFamily="34" charset="-122"/>
                <a:cs typeface="Be Vietnam Pro" pitchFamily="34" charset="-120"/>
              </a:rPr>
              <a:t>Duy - 1990 Agency</a:t>
            </a:r>
            <a:endParaRPr lang="en-US" sz="4200" dirty="0"/>
          </a:p>
        </p:txBody>
      </p:sp>
      <p:sp>
        <p:nvSpPr>
          <p:cNvPr id="9" name="Text 6"/>
          <p:cNvSpPr txBox="1"/>
          <p:nvPr/>
        </p:nvSpPr>
        <p:spPr>
          <a:xfrm>
            <a:off x="1143000" y="4468673"/>
            <a:ext cx="13335610" cy="1619402"/>
          </a:xfrm>
          <a:prstGeom prst="rect">
            <a:avLst/>
          </a:prstGeom>
          <a:noFill/>
          <a:ln/>
        </p:spPr>
        <p:txBody>
          <a:bodyPr wrap="none" lIns="0" tIns="0" rIns="0" bIns="0" rtlCol="0" anchor="ctr"/>
          <a:lstStyle/>
          <a:p>
            <a:pPr marL="0" indent="0" algn="l">
              <a:buNone/>
            </a:pPr>
            <a:r>
              <a:rPr lang="en-US" sz="12750" b="1" dirty="0">
                <a:solidFill>
                  <a:srgbClr val="A78061"/>
                </a:solidFill>
                <a:latin typeface="Playfair Display" pitchFamily="34" charset="0"/>
                <a:ea typeface="Playfair Display" pitchFamily="34" charset="-122"/>
                <a:cs typeface="Playfair Display" pitchFamily="34" charset="-120"/>
              </a:rPr>
              <a:t>0794.258.254</a:t>
            </a:r>
            <a:endParaRPr lang="en-US" sz="12750" dirty="0"/>
          </a:p>
        </p:txBody>
      </p:sp>
      <p:sp>
        <p:nvSpPr>
          <p:cNvPr id="11" name="Text 8"/>
          <p:cNvSpPr txBox="1"/>
          <p:nvPr/>
        </p:nvSpPr>
        <p:spPr>
          <a:xfrm>
            <a:off x="1143000" y="8172907"/>
            <a:ext cx="14859000" cy="857707"/>
          </a:xfrm>
          <a:prstGeom prst="rect">
            <a:avLst/>
          </a:prstGeom>
          <a:noFill/>
          <a:ln/>
        </p:spPr>
        <p:txBody>
          <a:bodyPr wrap="square" lIns="0" tIns="0" rIns="0" bIns="0" rtlCol="0" anchor="ctr"/>
          <a:lstStyle/>
          <a:p>
            <a:pPr marL="0" indent="0" algn="l">
              <a:lnSpc>
                <a:spcPts val="3375"/>
              </a:lnSpc>
              <a:buNone/>
            </a:pP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1073</Words>
  <Application>Microsoft Macintosh PowerPoint</Application>
  <PresentationFormat>Custom</PresentationFormat>
  <Paragraphs>117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Be Vietnam Pro</vt:lpstr>
      <vt:lpstr>JetBrains Mono</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Duy Truong</cp:lastModifiedBy>
  <cp:revision>2</cp:revision>
  <dcterms:created xsi:type="dcterms:W3CDTF">2026-10-01T14:56:03Z</dcterms:created>
  <dcterms:modified xsi:type="dcterms:W3CDTF">2026-10-01T15:10:57Z</dcterms:modified>
</cp:coreProperties>
</file>